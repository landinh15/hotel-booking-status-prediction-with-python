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24"/>
  </p:notesMasterIdLst>
  <p:sldIdLst>
    <p:sldId id="256" r:id="rId3"/>
    <p:sldId id="259" r:id="rId4"/>
    <p:sldId id="281" r:id="rId5"/>
    <p:sldId id="295" r:id="rId6"/>
    <p:sldId id="258" r:id="rId7"/>
    <p:sldId id="287" r:id="rId8"/>
    <p:sldId id="288" r:id="rId9"/>
    <p:sldId id="289" r:id="rId10"/>
    <p:sldId id="284" r:id="rId11"/>
    <p:sldId id="282" r:id="rId12"/>
    <p:sldId id="283" r:id="rId13"/>
    <p:sldId id="285" r:id="rId14"/>
    <p:sldId id="269" r:id="rId15"/>
    <p:sldId id="286" r:id="rId16"/>
    <p:sldId id="290" r:id="rId17"/>
    <p:sldId id="294" r:id="rId18"/>
    <p:sldId id="296" r:id="rId19"/>
    <p:sldId id="265" r:id="rId20"/>
    <p:sldId id="264" r:id="rId21"/>
    <p:sldId id="298" r:id="rId22"/>
    <p:sldId id="293" r:id="rId23"/>
  </p:sldIdLst>
  <p:sldSz cx="18288000" cy="10287000"/>
  <p:notesSz cx="6858000" cy="9144000"/>
  <p:embeddedFontLst>
    <p:embeddedFont>
      <p:font typeface="Anton" pitchFamily="2" charset="77"/>
      <p:regular r:id="rId25"/>
    </p:embeddedFont>
    <p:embeddedFont>
      <p:font typeface="DM Sans" pitchFamily="2" charset="77"/>
      <p:regular r:id="rId26"/>
      <p:bold r:id="rId27"/>
      <p:italic r:id="rId28"/>
      <p:boldItalic r:id="rId29"/>
    </p:embeddedFont>
    <p:embeddedFont>
      <p:font typeface="DM Sans Bold" panose="020F0502020204030204" pitchFamily="34" charset="0"/>
      <p:regular r:id="rId30"/>
      <p:bold r:id="rId31"/>
      <p:italic r:id="rId32"/>
      <p:boldItalic r:id="rId33"/>
    </p:embeddedFont>
    <p:embeddedFont>
      <p:font typeface="Forum" panose="02000000000000000000" pitchFamily="2" charset="0"/>
      <p:regular r:id="rId34"/>
    </p:embeddedFont>
    <p:embeddedFont>
      <p:font typeface="Inter" panose="020F0502020204030204" pitchFamily="34" charset="0"/>
      <p:regular r:id="rId35"/>
      <p:bold r:id="rId36"/>
      <p:italic r:id="rId37"/>
      <p:boldItalic r:id="rId38"/>
    </p:embeddedFont>
    <p:embeddedFont>
      <p:font typeface="Inter SemiBold" panose="020F0502020204030204" pitchFamily="34" charset="0"/>
      <p:regular r:id="rId39"/>
      <p:bold r:id="rId40"/>
      <p:italic r:id="rId41"/>
      <p:boldItalic r:id="rId42"/>
    </p:embeddedFont>
    <p:embeddedFont>
      <p:font typeface="Telegraf" panose="020F0502020204030204" pitchFamily="34" charset="0"/>
      <p:regular r:id="rId43"/>
      <p:bold r:id="rId44"/>
      <p:italic r:id="rId45"/>
      <p:boldItalic r:id="rId46"/>
    </p:embeddedFont>
    <p:embeddedFont>
      <p:font typeface="Telegraf Bold" panose="020F050202020403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C5D"/>
    <a:srgbClr val="FFFED6"/>
    <a:srgbClr val="535C8A"/>
    <a:srgbClr val="9B7D4C"/>
    <a:srgbClr val="2559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15"/>
    <p:restoredTop sz="77902"/>
  </p:normalViewPr>
  <p:slideViewPr>
    <p:cSldViewPr snapToGrid="0">
      <p:cViewPr varScale="1">
        <p:scale>
          <a:sx n="55" d="100"/>
          <a:sy n="55" d="100"/>
        </p:scale>
        <p:origin x="216" y="3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9.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5.fntdata"/><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8.xml"/><Relationship Id="rId41" Type="http://schemas.openxmlformats.org/officeDocument/2006/relationships/font" Target="fonts/font1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43D0D2F-C848-6BA6-38C7-2A7F4CF7F183}"/>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0262E45-0E48-853A-1E8A-C98400AFAC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DCB2A61D-6923-70FE-FF29-0266899D4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9192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a:extLst>
            <a:ext uri="{FF2B5EF4-FFF2-40B4-BE49-F238E27FC236}">
              <a16:creationId xmlns:a16="http://schemas.microsoft.com/office/drawing/2014/main" id="{3745EF50-C12E-A897-2B5E-C6F330DD47E4}"/>
            </a:ext>
          </a:extLst>
        </p:cNvPr>
        <p:cNvGrpSpPr/>
        <p:nvPr/>
      </p:nvGrpSpPr>
      <p:grpSpPr>
        <a:xfrm>
          <a:off x="0" y="0"/>
          <a:ext cx="0" cy="0"/>
          <a:chOff x="0" y="0"/>
          <a:chExt cx="0" cy="0"/>
        </a:xfrm>
      </p:grpSpPr>
      <p:sp>
        <p:nvSpPr>
          <p:cNvPr id="259" name="Google Shape;259;p14:notes">
            <a:extLst>
              <a:ext uri="{FF2B5EF4-FFF2-40B4-BE49-F238E27FC236}">
                <a16:creationId xmlns:a16="http://schemas.microsoft.com/office/drawing/2014/main" id="{33AC0E40-81FC-3BE3-007B-E3C337FE54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4:notes">
            <a:extLst>
              <a:ext uri="{FF2B5EF4-FFF2-40B4-BE49-F238E27FC236}">
                <a16:creationId xmlns:a16="http://schemas.microsoft.com/office/drawing/2014/main" id="{6ED9C23A-2E8F-64E5-A74B-A0AB872520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69989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a:extLst>
            <a:ext uri="{FF2B5EF4-FFF2-40B4-BE49-F238E27FC236}">
              <a16:creationId xmlns:a16="http://schemas.microsoft.com/office/drawing/2014/main" id="{3E42D98B-6C36-3905-C50E-A6832B994355}"/>
            </a:ext>
          </a:extLst>
        </p:cNvPr>
        <p:cNvGrpSpPr/>
        <p:nvPr/>
      </p:nvGrpSpPr>
      <p:grpSpPr>
        <a:xfrm>
          <a:off x="0" y="0"/>
          <a:ext cx="0" cy="0"/>
          <a:chOff x="0" y="0"/>
          <a:chExt cx="0" cy="0"/>
        </a:xfrm>
      </p:grpSpPr>
      <p:sp>
        <p:nvSpPr>
          <p:cNvPr id="259" name="Google Shape;259;p14:notes">
            <a:extLst>
              <a:ext uri="{FF2B5EF4-FFF2-40B4-BE49-F238E27FC236}">
                <a16:creationId xmlns:a16="http://schemas.microsoft.com/office/drawing/2014/main" id="{C95BA363-53CB-046E-2918-D843C0576C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4:notes">
            <a:extLst>
              <a:ext uri="{FF2B5EF4-FFF2-40B4-BE49-F238E27FC236}">
                <a16:creationId xmlns:a16="http://schemas.microsoft.com/office/drawing/2014/main" id="{8982DDC2-DE62-4AB5-243C-E8D79B6765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86346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a:extLst>
            <a:ext uri="{FF2B5EF4-FFF2-40B4-BE49-F238E27FC236}">
              <a16:creationId xmlns:a16="http://schemas.microsoft.com/office/drawing/2014/main" id="{8588F0A8-DB3B-03DA-E811-2DF78C121A3D}"/>
            </a:ext>
          </a:extLst>
        </p:cNvPr>
        <p:cNvGrpSpPr/>
        <p:nvPr/>
      </p:nvGrpSpPr>
      <p:grpSpPr>
        <a:xfrm>
          <a:off x="0" y="0"/>
          <a:ext cx="0" cy="0"/>
          <a:chOff x="0" y="0"/>
          <a:chExt cx="0" cy="0"/>
        </a:xfrm>
      </p:grpSpPr>
      <p:sp>
        <p:nvSpPr>
          <p:cNvPr id="259" name="Google Shape;259;p14:notes">
            <a:extLst>
              <a:ext uri="{FF2B5EF4-FFF2-40B4-BE49-F238E27FC236}">
                <a16:creationId xmlns:a16="http://schemas.microsoft.com/office/drawing/2014/main" id="{06B3F63E-277A-7B48-4953-D95BB86781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4:notes">
            <a:extLst>
              <a:ext uri="{FF2B5EF4-FFF2-40B4-BE49-F238E27FC236}">
                <a16:creationId xmlns:a16="http://schemas.microsoft.com/office/drawing/2014/main" id="{CF6B882A-0164-7637-8D7D-4B9E95CE50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3406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58750" indent="0">
              <a:buFontTx/>
              <a:buNone/>
            </a:pPr>
            <a:r>
              <a:rPr lang="en-CA" sz="1100" b="0" i="0" u="none" strike="noStrike" cap="none" dirty="0">
                <a:solidFill>
                  <a:srgbClr val="000000"/>
                </a:solidFill>
                <a:effectLst/>
                <a:latin typeface="Arial"/>
                <a:ea typeface="Arial"/>
                <a:cs typeface="Arial"/>
                <a:sym typeface="Arial"/>
              </a:rPr>
              <a:t>okay so the winner of this whole modeling showdown was Random Forest with L1 Regularization. L1 removed weak or noisy features, keeping only the most meaningful predictors. With a cleaner feature set, Random Forest was able to build hundreds of decision trees and capture complex interactions that simpler models cannot. </a:t>
            </a:r>
            <a:r>
              <a:rPr lang="en-CA" sz="1100" b="0" i="0" u="none" strike="noStrike" cap="none" dirty="0" err="1">
                <a:solidFill>
                  <a:srgbClr val="000000"/>
                </a:solidFill>
                <a:effectLst/>
                <a:latin typeface="Arial"/>
                <a:ea typeface="Arial"/>
                <a:cs typeface="Arial"/>
                <a:sym typeface="Arial"/>
              </a:rPr>
              <a:t>Togetherm</a:t>
            </a:r>
            <a:r>
              <a:rPr lang="en-CA" sz="1100" b="0" i="0" u="none" strike="noStrike" cap="none" dirty="0">
                <a:solidFill>
                  <a:srgbClr val="000000"/>
                </a:solidFill>
                <a:effectLst/>
                <a:latin typeface="Arial"/>
                <a:ea typeface="Arial"/>
                <a:cs typeface="Arial"/>
                <a:sym typeface="Arial"/>
              </a:rPr>
              <a:t> they produced the highest accuracy and the most stable results across the entire dataset.</a:t>
            </a:r>
          </a:p>
          <a:p>
            <a:pPr marL="158750" indent="0">
              <a:buFontTx/>
              <a:buNone/>
            </a:pPr>
            <a:br>
              <a:rPr lang="en-CA" sz="1100" b="0" i="0" u="none" strike="noStrike" cap="none" dirty="0">
                <a:solidFill>
                  <a:srgbClr val="000000"/>
                </a:solidFill>
                <a:effectLst/>
                <a:latin typeface="Arial"/>
                <a:ea typeface="Arial"/>
                <a:cs typeface="Arial"/>
                <a:sym typeface="Arial"/>
              </a:rPr>
            </a:br>
            <a:endParaRPr lang="en-CA" sz="1100" b="0" i="0" u="none" strike="noStrike" cap="none" dirty="0">
              <a:solidFill>
                <a:srgbClr val="000000"/>
              </a:solidFill>
              <a:effectLst/>
              <a:latin typeface="Arial"/>
              <a:ea typeface="Arial"/>
              <a:cs typeface="Arial"/>
              <a:sym typeface="Arial"/>
            </a:endParaRPr>
          </a:p>
          <a:p>
            <a:pPr marL="158750" indent="0">
              <a:buFontTx/>
              <a:buNone/>
            </a:pPr>
            <a:r>
              <a:rPr lang="en-CA" sz="1100" b="0" i="0" u="none" strike="noStrike" cap="none" dirty="0">
                <a:solidFill>
                  <a:srgbClr val="000000"/>
                </a:solidFill>
                <a:effectLst/>
                <a:latin typeface="Arial"/>
                <a:ea typeface="Arial"/>
                <a:cs typeface="Arial"/>
                <a:sym typeface="Arial"/>
              </a:rPr>
              <a:t>On the other hand… Naïve Bayes was </a:t>
            </a:r>
            <a:r>
              <a:rPr lang="en-CA" sz="1100" b="0" i="0" u="none" strike="noStrike" cap="none" dirty="0" err="1">
                <a:solidFill>
                  <a:srgbClr val="000000"/>
                </a:solidFill>
                <a:effectLst/>
                <a:latin typeface="Arial"/>
                <a:ea typeface="Arial"/>
                <a:cs typeface="Arial"/>
                <a:sym typeface="Arial"/>
              </a:rPr>
              <a:t>kinda</a:t>
            </a:r>
            <a:r>
              <a:rPr lang="en-CA" sz="1100" b="0" i="0" u="none" strike="noStrike" cap="none" dirty="0">
                <a:solidFill>
                  <a:srgbClr val="000000"/>
                </a:solidFill>
                <a:effectLst/>
                <a:latin typeface="Arial"/>
                <a:ea typeface="Arial"/>
                <a:cs typeface="Arial"/>
                <a:sym typeface="Arial"/>
              </a:rPr>
              <a:t> struggling.</a:t>
            </a:r>
          </a:p>
          <a:p>
            <a:pPr marL="158750" indent="0">
              <a:buFontTx/>
              <a:buNone/>
            </a:pPr>
            <a:r>
              <a:rPr lang="en-CA" sz="1100" b="0" i="0" u="none" strike="noStrike" cap="none" dirty="0">
                <a:solidFill>
                  <a:srgbClr val="000000"/>
                </a:solidFill>
                <a:effectLst/>
                <a:latin typeface="Arial"/>
                <a:ea typeface="Arial"/>
                <a:cs typeface="Arial"/>
                <a:sym typeface="Arial"/>
              </a:rPr>
              <a:t>It assumes every feature is independent, but in our dataset,  many features clearly influence one another. It can’t really understand those relationships, its predictions were way off — making it the worst performer</a:t>
            </a:r>
          </a:p>
          <a:p>
            <a:pPr marL="158750" indent="0">
              <a:buFontTx/>
              <a:buNone/>
            </a:pPr>
            <a:br>
              <a:rPr lang="en-CA" sz="1100" b="0" i="0" u="none" strike="noStrike" cap="none" dirty="0">
                <a:solidFill>
                  <a:srgbClr val="000000"/>
                </a:solidFill>
                <a:effectLst/>
                <a:latin typeface="Arial"/>
                <a:ea typeface="Arial"/>
                <a:cs typeface="Arial"/>
                <a:sym typeface="Arial"/>
              </a:rPr>
            </a:br>
            <a:endParaRPr lang="en-CA" sz="1100" b="0" i="0" u="none" strike="noStrike" cap="none" dirty="0">
              <a:solidFill>
                <a:srgbClr val="000000"/>
              </a:solidFill>
              <a:effectLst/>
              <a:latin typeface="Arial"/>
              <a:ea typeface="Arial"/>
              <a:cs typeface="Arial"/>
              <a:sym typeface="Arial"/>
            </a:endParaRPr>
          </a:p>
          <a:p>
            <a:pPr marL="158750" indent="0">
              <a:buFontTx/>
              <a:buNone/>
            </a:pPr>
            <a:r>
              <a:rPr lang="en-CA" sz="1100" b="0" i="0" u="none" strike="noStrike" cap="none" dirty="0">
                <a:solidFill>
                  <a:srgbClr val="000000"/>
                </a:solidFill>
                <a:effectLst/>
                <a:latin typeface="Arial"/>
                <a:ea typeface="Arial"/>
                <a:cs typeface="Arial"/>
                <a:sym typeface="Arial"/>
              </a:rPr>
              <a:t>“So in conclusion, this project showed that machine learning can predict hotel cancellations with over 90% accuracy, thanks to the Random Forest + L1 combo.</a:t>
            </a:r>
          </a:p>
          <a:p>
            <a:pPr marL="158750" indent="0">
              <a:buFontTx/>
              <a:buNone/>
            </a:pPr>
            <a:r>
              <a:rPr lang="en-CA" sz="1100" b="0" i="0" u="none" strike="noStrike" cap="none" dirty="0">
                <a:solidFill>
                  <a:srgbClr val="000000"/>
                </a:solidFill>
                <a:effectLst/>
                <a:latin typeface="Arial"/>
                <a:ea typeface="Arial"/>
                <a:cs typeface="Arial"/>
                <a:sym typeface="Arial"/>
              </a:rPr>
              <a:t>The biggest drivers behind cancellations were lead time, average price per room, and number of special requests. This means that higher lead time (booking far in advance), higher room price, or fewer special requests tend to increase the likelihood of cancellation.</a:t>
            </a:r>
          </a:p>
          <a:p>
            <a:pPr marL="158750" indent="0">
              <a:buFontTx/>
              <a:buNone/>
            </a:pPr>
            <a:r>
              <a:rPr lang="en-CA" sz="1100" b="0" i="0" u="none" strike="noStrike" cap="none" dirty="0">
                <a:solidFill>
                  <a:srgbClr val="000000"/>
                </a:solidFill>
                <a:effectLst/>
                <a:latin typeface="Arial"/>
                <a:ea typeface="Arial"/>
                <a:cs typeface="Arial"/>
                <a:sym typeface="Arial"/>
              </a:rPr>
              <a:t>Overall, we built a model that’s </a:t>
            </a:r>
            <a:r>
              <a:rPr lang="en-CA" sz="1100" b="0" i="0" u="none" strike="noStrike" cap="none" dirty="0" err="1">
                <a:solidFill>
                  <a:srgbClr val="000000"/>
                </a:solidFill>
                <a:effectLst/>
                <a:latin typeface="Arial"/>
                <a:ea typeface="Arial"/>
                <a:cs typeface="Arial"/>
                <a:sym typeface="Arial"/>
              </a:rPr>
              <a:t>rleliable,consistent</a:t>
            </a:r>
            <a:r>
              <a:rPr lang="en-CA" sz="1100" b="0" i="0" u="none" strike="noStrike" cap="none" dirty="0">
                <a:solidFill>
                  <a:srgbClr val="000000"/>
                </a:solidFill>
                <a:effectLst/>
                <a:latin typeface="Arial"/>
                <a:ea typeface="Arial"/>
                <a:cs typeface="Arial"/>
                <a:sym typeface="Arial"/>
              </a:rPr>
              <a:t>, and actually useful for helping hotels reduce revenue loss and manage bookings smarter.”</a:t>
            </a:r>
          </a:p>
          <a:p>
            <a:pPr marL="158750" indent="0">
              <a:buFontTx/>
              <a:buNone/>
            </a:pPr>
            <a:br>
              <a:rPr lang="en-CA" sz="1100" b="0" i="0" u="none" strike="noStrike" cap="none" dirty="0">
                <a:solidFill>
                  <a:srgbClr val="000000"/>
                </a:solidFill>
                <a:effectLst/>
                <a:latin typeface="Arial"/>
                <a:ea typeface="Arial"/>
                <a:cs typeface="Arial"/>
                <a:sym typeface="Arial"/>
              </a:rPr>
            </a:br>
            <a:endParaRPr lang="en-CA" sz="1100" b="0" i="0" u="none" strike="noStrike" cap="none" dirty="0">
              <a:solidFill>
                <a:srgbClr val="000000"/>
              </a:solidFill>
              <a:effectLst/>
              <a:latin typeface="Arial"/>
              <a:ea typeface="Arial"/>
              <a:cs typeface="Arial"/>
              <a:sym typeface="Arial"/>
            </a:endParaRPr>
          </a:p>
          <a:p>
            <a:pPr marL="158750" indent="0">
              <a:buFontTx/>
              <a:buNone/>
            </a:pPr>
            <a:r>
              <a:rPr lang="en-CA" sz="1100" b="0" i="0" u="none" strike="noStrike" cap="none" dirty="0">
                <a:solidFill>
                  <a:srgbClr val="000000"/>
                </a:solidFill>
                <a:effectLst/>
                <a:latin typeface="Arial"/>
                <a:ea typeface="Arial"/>
                <a:cs typeface="Arial"/>
                <a:sym typeface="Arial"/>
              </a:rPr>
              <a:t>“One of the biggest things we learned in this project is how much preprocessing and feature selection affect model performance.</a:t>
            </a:r>
          </a:p>
          <a:p>
            <a:pPr marL="158750" indent="0">
              <a:buFontTx/>
              <a:buNone/>
            </a:pPr>
            <a:r>
              <a:rPr lang="en-CA" sz="1100" b="0" i="0" u="none" strike="noStrike" cap="none" dirty="0">
                <a:solidFill>
                  <a:srgbClr val="000000"/>
                </a:solidFill>
                <a:effectLst/>
                <a:latin typeface="Arial"/>
                <a:ea typeface="Arial"/>
                <a:cs typeface="Arial"/>
                <a:sym typeface="Arial"/>
              </a:rPr>
              <a:t>In the beginning, we tried handling categorical data with </a:t>
            </a:r>
            <a:r>
              <a:rPr lang="en-CA" sz="1100" b="0" i="0" u="none" strike="noStrike" cap="none" dirty="0" err="1">
                <a:solidFill>
                  <a:srgbClr val="000000"/>
                </a:solidFill>
                <a:effectLst/>
                <a:latin typeface="Arial"/>
                <a:ea typeface="Arial"/>
                <a:cs typeface="Arial"/>
                <a:sym typeface="Arial"/>
              </a:rPr>
              <a:t>LabelEncoder</a:t>
            </a:r>
            <a:r>
              <a:rPr lang="en-CA" sz="1100" b="0" i="0" u="none" strike="noStrike" cap="none" dirty="0">
                <a:solidFill>
                  <a:srgbClr val="000000"/>
                </a:solidFill>
                <a:effectLst/>
                <a:latin typeface="Arial"/>
                <a:ea typeface="Arial"/>
                <a:cs typeface="Arial"/>
                <a:sym typeface="Arial"/>
              </a:rPr>
              <a:t> and manually transforming numerical features with log, sqrt, and scaling.</a:t>
            </a:r>
          </a:p>
          <a:p>
            <a:pPr marL="158750" indent="0">
              <a:buFontTx/>
              <a:buNone/>
            </a:pPr>
            <a:r>
              <a:rPr lang="en-CA" sz="1100" b="0" i="0" u="none" strike="noStrike" cap="none" dirty="0">
                <a:solidFill>
                  <a:srgbClr val="000000"/>
                </a:solidFill>
                <a:effectLst/>
                <a:latin typeface="Arial"/>
                <a:ea typeface="Arial"/>
                <a:cs typeface="Arial"/>
                <a:sym typeface="Arial"/>
              </a:rPr>
              <a:t>We even created new features like total nights and total people — but the highest accuracy we reached was only about 84% with KNN.</a:t>
            </a:r>
          </a:p>
          <a:p>
            <a:pPr marL="158750" indent="0">
              <a:buFontTx/>
              <a:buNone/>
            </a:pPr>
            <a:r>
              <a:rPr lang="en-CA" sz="1100" b="0" i="0" u="none" strike="noStrike" cap="none" dirty="0">
                <a:solidFill>
                  <a:srgbClr val="000000"/>
                </a:solidFill>
                <a:effectLst/>
                <a:latin typeface="Arial"/>
                <a:ea typeface="Arial"/>
                <a:cs typeface="Arial"/>
                <a:sym typeface="Arial"/>
              </a:rPr>
              <a:t>Once we switched to a structured pipeline with proper encoding, scaling, and L1 feature selection, our accuracy jumped to over 90%.</a:t>
            </a:r>
          </a:p>
          <a:p>
            <a:pPr marL="158750" indent="0">
              <a:buFontTx/>
              <a:buNone/>
            </a:pPr>
            <a:r>
              <a:rPr lang="en-CA" sz="1100" b="0" i="0" u="none" strike="noStrike" cap="none" dirty="0">
                <a:solidFill>
                  <a:srgbClr val="000000"/>
                </a:solidFill>
                <a:effectLst/>
                <a:latin typeface="Arial"/>
                <a:ea typeface="Arial"/>
                <a:cs typeface="Arial"/>
                <a:sym typeface="Arial"/>
              </a:rPr>
              <a:t>That really showed us that data preparation is just as important as the model we choose. </a:t>
            </a:r>
          </a:p>
          <a:p>
            <a:pPr marL="158750" indent="0">
              <a:buFontTx/>
              <a:buNone/>
            </a:pPr>
            <a:br>
              <a:rPr lang="en-CA" sz="1100" b="0" i="0" u="none" strike="noStrike" cap="none" dirty="0">
                <a:solidFill>
                  <a:srgbClr val="000000"/>
                </a:solidFill>
                <a:effectLst/>
                <a:latin typeface="Arial"/>
                <a:ea typeface="Arial"/>
                <a:cs typeface="Arial"/>
                <a:sym typeface="Arial"/>
              </a:rPr>
            </a:br>
            <a:endParaRPr lang="en-CA" sz="1100" b="0" i="0" u="none" strike="noStrike" cap="none" dirty="0">
              <a:solidFill>
                <a:srgbClr val="000000"/>
              </a:solidFill>
              <a:effectLst/>
              <a:latin typeface="Arial"/>
              <a:ea typeface="Arial"/>
              <a:cs typeface="Arial"/>
              <a:sym typeface="Arial"/>
            </a:endParaRPr>
          </a:p>
          <a:p>
            <a:pPr marL="158750" indent="0">
              <a:buFontTx/>
              <a:buNone/>
            </a:pPr>
            <a:r>
              <a:rPr lang="en-CA" sz="1100" b="0" i="0" u="none" strike="noStrike" cap="none" dirty="0">
                <a:solidFill>
                  <a:srgbClr val="000000"/>
                </a:solidFill>
                <a:effectLst/>
                <a:latin typeface="Arial"/>
                <a:ea typeface="Arial"/>
                <a:cs typeface="Arial"/>
                <a:sym typeface="Arial"/>
              </a:rPr>
              <a:t>“Another key learning was that EDA doesn’t always tell the full story.</a:t>
            </a:r>
          </a:p>
          <a:p>
            <a:pPr marL="158750" indent="0">
              <a:buFontTx/>
              <a:buNone/>
            </a:pPr>
            <a:r>
              <a:rPr lang="en-CA" sz="1100" b="0" i="0" u="none" strike="noStrike" cap="none" dirty="0">
                <a:solidFill>
                  <a:srgbClr val="000000"/>
                </a:solidFill>
                <a:effectLst/>
                <a:latin typeface="Arial"/>
                <a:ea typeface="Arial"/>
                <a:cs typeface="Arial"/>
                <a:sym typeface="Arial"/>
              </a:rPr>
              <a:t>During, </a:t>
            </a:r>
            <a:r>
              <a:rPr lang="en-CA" sz="1100" b="0" i="0" u="none" strike="noStrike" cap="none" dirty="0" err="1">
                <a:solidFill>
                  <a:srgbClr val="000000"/>
                </a:solidFill>
                <a:effectLst/>
                <a:latin typeface="Arial"/>
                <a:ea typeface="Arial"/>
                <a:cs typeface="Arial"/>
                <a:sym typeface="Arial"/>
              </a:rPr>
              <a:t>lead_time</a:t>
            </a:r>
            <a:r>
              <a:rPr lang="en-CA" sz="1100" b="0" i="0" u="none" strike="noStrike" cap="none" dirty="0">
                <a:solidFill>
                  <a:srgbClr val="000000"/>
                </a:solidFill>
                <a:effectLst/>
                <a:latin typeface="Arial"/>
                <a:ea typeface="Arial"/>
                <a:cs typeface="Arial"/>
                <a:sym typeface="Arial"/>
              </a:rPr>
              <a:t>, special requests, and </a:t>
            </a:r>
            <a:r>
              <a:rPr lang="en-CA" sz="1100" b="0" i="0" u="none" strike="noStrike" cap="none" dirty="0" err="1">
                <a:solidFill>
                  <a:srgbClr val="000000"/>
                </a:solidFill>
                <a:effectLst/>
                <a:latin typeface="Arial"/>
                <a:ea typeface="Arial"/>
                <a:cs typeface="Arial"/>
                <a:sym typeface="Arial"/>
              </a:rPr>
              <a:t>arrival_year</a:t>
            </a:r>
            <a:r>
              <a:rPr lang="en-CA" sz="1100" b="0" i="0" u="none" strike="noStrike" cap="none" dirty="0">
                <a:solidFill>
                  <a:srgbClr val="000000"/>
                </a:solidFill>
                <a:effectLst/>
                <a:latin typeface="Arial"/>
                <a:ea typeface="Arial"/>
                <a:cs typeface="Arial"/>
                <a:sym typeface="Arial"/>
              </a:rPr>
              <a:t> looked like the strongest predictors, but final RF revealed that </a:t>
            </a:r>
            <a:r>
              <a:rPr lang="en-CA" sz="1100" b="0" i="0" u="none" strike="noStrike" cap="none" dirty="0" err="1">
                <a:solidFill>
                  <a:srgbClr val="000000"/>
                </a:solidFill>
                <a:effectLst/>
                <a:latin typeface="Arial"/>
                <a:ea typeface="Arial"/>
                <a:cs typeface="Arial"/>
                <a:sym typeface="Arial"/>
              </a:rPr>
              <a:t>avg_price_per_room</a:t>
            </a:r>
            <a:r>
              <a:rPr lang="en-CA" sz="1100" b="0" i="0" u="none" strike="noStrike" cap="none" dirty="0">
                <a:solidFill>
                  <a:srgbClr val="000000"/>
                </a:solidFill>
                <a:effectLst/>
                <a:latin typeface="Arial"/>
                <a:ea typeface="Arial"/>
                <a:cs typeface="Arial"/>
                <a:sym typeface="Arial"/>
              </a:rPr>
              <a:t> was actually one of the top features.</a:t>
            </a:r>
          </a:p>
          <a:p>
            <a:pPr marL="158750" indent="0">
              <a:buFontTx/>
              <a:buNone/>
            </a:pPr>
            <a:r>
              <a:rPr lang="en-CA" sz="1100" b="0" i="0" u="none" strike="noStrike" cap="none" dirty="0">
                <a:solidFill>
                  <a:srgbClr val="000000"/>
                </a:solidFill>
                <a:effectLst/>
                <a:latin typeface="Arial"/>
                <a:ea typeface="Arial"/>
                <a:cs typeface="Arial"/>
                <a:sym typeface="Arial"/>
              </a:rPr>
              <a:t>This taught us that machine learning models can capture deeper, nonlinear relationships that simple correlations don’t reveal.”</a:t>
            </a:r>
          </a:p>
        </p:txBody>
      </p:sp>
    </p:spTree>
    <p:extLst>
      <p:ext uri="{BB962C8B-B14F-4D97-AF65-F5344CB8AC3E}">
        <p14:creationId xmlns:p14="http://schemas.microsoft.com/office/powerpoint/2010/main" val="715852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3459017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3753436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86F6E-1972-BAB2-7DCB-7DD0DD05E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1CD52-AC46-05C0-9179-F02F002D4619}"/>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14E31542-AE8F-A8E7-2D45-FCB8E1759B18}"/>
              </a:ext>
            </a:extLst>
          </p:cNvPr>
          <p:cNvSpPr>
            <a:spLocks noGrp="1"/>
          </p:cNvSpPr>
          <p:nvPr>
            <p:ph type="body" idx="1"/>
          </p:nvPr>
        </p:nvSpPr>
        <p:spPr/>
        <p:txBody>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3839960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902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5197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3837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63015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7175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47218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2488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59271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7711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40131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5686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342954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kaggle.com/datasets/ahsan81/hotel-reservations-classification-datase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AE0"/>
        </a:solidFill>
        <a:effectLst/>
      </p:bgPr>
    </p:bg>
    <p:spTree>
      <p:nvGrpSpPr>
        <p:cNvPr id="1" name="Shape 83"/>
        <p:cNvGrpSpPr/>
        <p:nvPr/>
      </p:nvGrpSpPr>
      <p:grpSpPr>
        <a:xfrm>
          <a:off x="0" y="0"/>
          <a:ext cx="0" cy="0"/>
          <a:chOff x="0" y="0"/>
          <a:chExt cx="0" cy="0"/>
        </a:xfrm>
      </p:grpSpPr>
      <p:pic>
        <p:nvPicPr>
          <p:cNvPr id="84" name="Google Shape;84;p13"/>
          <p:cNvPicPr preferRelativeResize="0"/>
          <p:nvPr/>
        </p:nvPicPr>
        <p:blipFill>
          <a:blip r:embed="rId3"/>
          <a:srcRect t="13023"/>
          <a:stretch>
            <a:fillRect/>
          </a:stretch>
        </p:blipFill>
        <p:spPr>
          <a:xfrm>
            <a:off x="-637953" y="-425301"/>
            <a:ext cx="19138604" cy="11610752"/>
          </a:xfrm>
          <a:prstGeom prst="rect">
            <a:avLst/>
          </a:prstGeom>
          <a:noFill/>
          <a:ln>
            <a:noFill/>
          </a:ln>
        </p:spPr>
      </p:pic>
      <p:sp>
        <p:nvSpPr>
          <p:cNvPr id="2" name="Rectangle 1">
            <a:extLst>
              <a:ext uri="{FF2B5EF4-FFF2-40B4-BE49-F238E27FC236}">
                <a16:creationId xmlns:a16="http://schemas.microsoft.com/office/drawing/2014/main" id="{2CF50ABB-BF5F-E97F-C7E8-90095A8F3306}"/>
              </a:ext>
            </a:extLst>
          </p:cNvPr>
          <p:cNvSpPr/>
          <p:nvPr/>
        </p:nvSpPr>
        <p:spPr>
          <a:xfrm>
            <a:off x="-1253970" y="-988828"/>
            <a:ext cx="20392574" cy="13109944"/>
          </a:xfrm>
          <a:prstGeom prst="rect">
            <a:avLst/>
          </a:prstGeom>
          <a:solidFill>
            <a:schemeClr val="tx1">
              <a:alpha val="49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noFill/>
            </a:endParaRPr>
          </a:p>
        </p:txBody>
      </p:sp>
      <p:grpSp>
        <p:nvGrpSpPr>
          <p:cNvPr id="3" name="Group 2">
            <a:extLst>
              <a:ext uri="{FF2B5EF4-FFF2-40B4-BE49-F238E27FC236}">
                <a16:creationId xmlns:a16="http://schemas.microsoft.com/office/drawing/2014/main" id="{C1E59401-261A-5AA0-6756-550B13924B24}"/>
              </a:ext>
            </a:extLst>
          </p:cNvPr>
          <p:cNvGrpSpPr/>
          <p:nvPr/>
        </p:nvGrpSpPr>
        <p:grpSpPr>
          <a:xfrm>
            <a:off x="-1052288" y="2073947"/>
            <a:ext cx="20392575" cy="5388833"/>
            <a:chOff x="-1253970" y="1595520"/>
            <a:chExt cx="20392575" cy="5388833"/>
          </a:xfrm>
        </p:grpSpPr>
        <p:sp>
          <p:nvSpPr>
            <p:cNvPr id="85" name="Google Shape;85;p13"/>
            <p:cNvSpPr txBox="1"/>
            <p:nvPr/>
          </p:nvSpPr>
          <p:spPr>
            <a:xfrm>
              <a:off x="-1253970" y="1595520"/>
              <a:ext cx="20392575" cy="46166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0" i="0" u="none" strike="noStrike" cap="none" dirty="0">
                  <a:solidFill>
                    <a:schemeClr val="bg1">
                      <a:lumMod val="95000"/>
                    </a:schemeClr>
                  </a:solidFill>
                  <a:latin typeface="Anton" pitchFamily="2" charset="77"/>
                  <a:ea typeface="Forum"/>
                  <a:cs typeface="Forum"/>
                  <a:sym typeface="Forum"/>
                </a:rPr>
                <a:t>Hotel Booking Status Prediction</a:t>
              </a:r>
              <a:endParaRPr sz="15000" dirty="0">
                <a:solidFill>
                  <a:schemeClr val="bg1">
                    <a:lumMod val="95000"/>
                  </a:schemeClr>
                </a:solidFill>
                <a:latin typeface="Anton" pitchFamily="2" charset="77"/>
              </a:endParaRPr>
            </a:p>
          </p:txBody>
        </p:sp>
        <p:sp>
          <p:nvSpPr>
            <p:cNvPr id="86" name="Google Shape;86;p13"/>
            <p:cNvSpPr txBox="1"/>
            <p:nvPr/>
          </p:nvSpPr>
          <p:spPr>
            <a:xfrm>
              <a:off x="4540102" y="5566144"/>
              <a:ext cx="9207795" cy="1418209"/>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US" sz="7200" b="0" i="0" u="none" strike="noStrike" cap="none" dirty="0">
                  <a:solidFill>
                    <a:schemeClr val="bg1">
                      <a:lumMod val="95000"/>
                    </a:schemeClr>
                  </a:solidFill>
                  <a:latin typeface="Forum"/>
                  <a:ea typeface="Forum"/>
                  <a:cs typeface="Forum"/>
                  <a:sym typeface="Forum"/>
                </a:rPr>
                <a:t>using Machine Learning</a:t>
              </a:r>
              <a:endParaRPr dirty="0">
                <a:solidFill>
                  <a:schemeClr val="bg1">
                    <a:lumMod val="95000"/>
                  </a:schemeClr>
                </a:solidFill>
              </a:endParaRPr>
            </a:p>
          </p:txBody>
        </p:sp>
      </p:grpSp>
      <p:sp>
        <p:nvSpPr>
          <p:cNvPr id="4" name="Google Shape;131;p16">
            <a:extLst>
              <a:ext uri="{FF2B5EF4-FFF2-40B4-BE49-F238E27FC236}">
                <a16:creationId xmlns:a16="http://schemas.microsoft.com/office/drawing/2014/main" id="{694C1B4D-8765-9D58-1F49-7B70CEC47851}"/>
              </a:ext>
            </a:extLst>
          </p:cNvPr>
          <p:cNvSpPr txBox="1"/>
          <p:nvPr/>
        </p:nvSpPr>
        <p:spPr>
          <a:xfrm>
            <a:off x="204383" y="9387991"/>
            <a:ext cx="2462618" cy="346249"/>
          </a:xfrm>
          <a:prstGeom prst="rect">
            <a:avLst/>
          </a:prstGeom>
          <a:noFill/>
          <a:ln>
            <a:noFill/>
          </a:ln>
        </p:spPr>
        <p:txBody>
          <a:bodyPr spcFirstLastPara="1" wrap="square" lIns="0" tIns="0" rIns="0" bIns="0" anchor="t" anchorCtr="0">
            <a:spAutoFit/>
          </a:bodyPr>
          <a:lstStyle/>
          <a:p>
            <a:pPr algn="just">
              <a:lnSpc>
                <a:spcPct val="150000"/>
              </a:lnSpc>
            </a:pPr>
            <a:r>
              <a:rPr lang="en-CA" sz="1500" b="0" i="0" u="none" strike="noStrike" cap="none" dirty="0">
                <a:solidFill>
                  <a:schemeClr val="bg1"/>
                </a:solidFill>
                <a:latin typeface="DM Sans" pitchFamily="2" charset="77"/>
                <a:ea typeface="Forum"/>
                <a:cs typeface="Forum"/>
                <a:sym typeface="Forum"/>
              </a:rPr>
              <a:t>Source: </a:t>
            </a:r>
            <a:r>
              <a:rPr lang="en-CA" sz="1500" b="0" i="0" u="none" strike="noStrike" cap="none" dirty="0">
                <a:solidFill>
                  <a:schemeClr val="bg1"/>
                </a:solidFill>
                <a:latin typeface="DM Sans" pitchFamily="2" charset="77"/>
                <a:ea typeface="Forum"/>
                <a:cs typeface="Forum"/>
                <a:sym typeface="Forum"/>
                <a:hlinkClick r:id="rId4">
                  <a:extLst>
                    <a:ext uri="{A12FA001-AC4F-418D-AE19-62706E023703}">
                      <ahyp:hlinkClr xmlns:ahyp="http://schemas.microsoft.com/office/drawing/2018/hyperlinkcolor" val="tx"/>
                    </a:ext>
                  </a:extLst>
                </a:hlinkClick>
              </a:rPr>
              <a:t>Kaggle.com</a:t>
            </a:r>
            <a:endParaRPr lang="en-CA" sz="1500" b="0" i="0" u="none" strike="noStrike" cap="none" dirty="0">
              <a:solidFill>
                <a:schemeClr val="bg1"/>
              </a:solidFill>
              <a:latin typeface="DM Sans" pitchFamily="2" charset="77"/>
              <a:ea typeface="Forum"/>
              <a:cs typeface="Forum"/>
              <a:sym typeface="Forum"/>
            </a:endParaRPr>
          </a:p>
        </p:txBody>
      </p:sp>
      <p:sp>
        <p:nvSpPr>
          <p:cNvPr id="5" name="Google Shape;131;p16">
            <a:extLst>
              <a:ext uri="{FF2B5EF4-FFF2-40B4-BE49-F238E27FC236}">
                <a16:creationId xmlns:a16="http://schemas.microsoft.com/office/drawing/2014/main" id="{982D363C-7732-5C78-D017-47A58172FF09}"/>
              </a:ext>
            </a:extLst>
          </p:cNvPr>
          <p:cNvSpPr txBox="1"/>
          <p:nvPr/>
        </p:nvSpPr>
        <p:spPr>
          <a:xfrm>
            <a:off x="15091065" y="8492319"/>
            <a:ext cx="4825989" cy="1384995"/>
          </a:xfrm>
          <a:prstGeom prst="rect">
            <a:avLst/>
          </a:prstGeom>
          <a:noFill/>
          <a:ln>
            <a:noFill/>
          </a:ln>
        </p:spPr>
        <p:txBody>
          <a:bodyPr spcFirstLastPara="1" wrap="square" lIns="0" tIns="0" rIns="0" bIns="0" anchor="t" anchorCtr="0">
            <a:spAutoFit/>
          </a:bodyPr>
          <a:lstStyle/>
          <a:p>
            <a:pPr algn="just">
              <a:lnSpc>
                <a:spcPct val="150000"/>
              </a:lnSpc>
            </a:pPr>
            <a:r>
              <a:rPr lang="en-CA" sz="1500" dirty="0">
                <a:solidFill>
                  <a:schemeClr val="bg1"/>
                </a:solidFill>
                <a:latin typeface="DM Sans" pitchFamily="2" charset="77"/>
                <a:ea typeface="Forum"/>
                <a:cs typeface="Forum"/>
                <a:sym typeface="Forum"/>
              </a:rPr>
              <a:t>Lan Dinh – 300383107</a:t>
            </a:r>
          </a:p>
          <a:p>
            <a:pPr algn="just">
              <a:lnSpc>
                <a:spcPct val="150000"/>
              </a:lnSpc>
            </a:pPr>
            <a:r>
              <a:rPr lang="en-CA" sz="1500" dirty="0">
                <a:solidFill>
                  <a:schemeClr val="bg1"/>
                </a:solidFill>
                <a:latin typeface="DM Sans" pitchFamily="2" charset="77"/>
                <a:ea typeface="Forum"/>
                <a:cs typeface="Forum"/>
                <a:sym typeface="Forum"/>
              </a:rPr>
              <a:t>Oluwajomiloju Aluko – 300421018</a:t>
            </a:r>
          </a:p>
          <a:p>
            <a:pPr algn="just">
              <a:lnSpc>
                <a:spcPct val="150000"/>
              </a:lnSpc>
            </a:pPr>
            <a:r>
              <a:rPr lang="en-CA" sz="1500" dirty="0">
                <a:solidFill>
                  <a:schemeClr val="bg1"/>
                </a:solidFill>
                <a:latin typeface="DM Sans" pitchFamily="2" charset="77"/>
                <a:ea typeface="Forum"/>
                <a:cs typeface="Forum"/>
                <a:sym typeface="Forum"/>
              </a:rPr>
              <a:t>Jaspreet Baweja – 300393820</a:t>
            </a:r>
          </a:p>
          <a:p>
            <a:pPr algn="just">
              <a:lnSpc>
                <a:spcPct val="150000"/>
              </a:lnSpc>
            </a:pPr>
            <a:r>
              <a:rPr lang="en-CA" sz="1500" dirty="0">
                <a:solidFill>
                  <a:schemeClr val="bg1"/>
                </a:solidFill>
                <a:latin typeface="DM Sans" pitchFamily="2" charset="77"/>
                <a:ea typeface="Forum"/>
                <a:cs typeface="Forum"/>
                <a:sym typeface="Forum"/>
              </a:rPr>
              <a:t>Roshni Batra - 300415575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25"/>
        <p:cNvGrpSpPr/>
        <p:nvPr/>
      </p:nvGrpSpPr>
      <p:grpSpPr>
        <a:xfrm>
          <a:off x="0" y="0"/>
          <a:ext cx="0" cy="0"/>
          <a:chOff x="0" y="0"/>
          <a:chExt cx="0" cy="0"/>
        </a:xfrm>
      </p:grpSpPr>
      <p:sp>
        <p:nvSpPr>
          <p:cNvPr id="130" name="Google Shape;130;p16"/>
          <p:cNvSpPr txBox="1"/>
          <p:nvPr/>
        </p:nvSpPr>
        <p:spPr>
          <a:xfrm>
            <a:off x="-2857757" y="597196"/>
            <a:ext cx="24060600" cy="2369880"/>
          </a:xfrm>
          <a:prstGeom prst="rect">
            <a:avLst/>
          </a:prstGeom>
          <a:noFill/>
          <a:ln>
            <a:noFill/>
          </a:ln>
        </p:spPr>
        <p:txBody>
          <a:bodyPr spcFirstLastPara="1" wrap="square" lIns="0" tIns="0" rIns="0" bIns="0" anchor="t" anchorCtr="0">
            <a:spAutoFit/>
          </a:bodyPr>
          <a:lstStyle/>
          <a:p>
            <a:pPr algn="ctr">
              <a:lnSpc>
                <a:spcPct val="69998"/>
              </a:lnSpc>
            </a:pPr>
            <a:r>
              <a:rPr lang="en-US" sz="22000" i="0" u="none" strike="noStrike" cap="none" dirty="0">
                <a:solidFill>
                  <a:schemeClr val="accent5"/>
                </a:solidFill>
                <a:latin typeface="Anton" pitchFamily="2" charset="77"/>
                <a:ea typeface="Forum"/>
                <a:cs typeface="Forum"/>
                <a:sym typeface="Forum"/>
              </a:rPr>
              <a:t>Project Overview</a:t>
            </a:r>
            <a:endParaRPr sz="22000" dirty="0">
              <a:solidFill>
                <a:schemeClr val="accent5"/>
              </a:solidFill>
              <a:latin typeface="Anton" pitchFamily="2" charset="77"/>
            </a:endParaRPr>
          </a:p>
        </p:txBody>
      </p:sp>
      <p:sp>
        <p:nvSpPr>
          <p:cNvPr id="131" name="Google Shape;131;p16"/>
          <p:cNvSpPr txBox="1"/>
          <p:nvPr/>
        </p:nvSpPr>
        <p:spPr>
          <a:xfrm>
            <a:off x="3691638" y="4384239"/>
            <a:ext cx="10961809" cy="2308324"/>
          </a:xfrm>
          <a:prstGeom prst="rect">
            <a:avLst/>
          </a:prstGeom>
          <a:noFill/>
          <a:ln>
            <a:noFill/>
          </a:ln>
        </p:spPr>
        <p:txBody>
          <a:bodyPr spcFirstLastPara="1" wrap="square" lIns="0" tIns="0" rIns="0" bIns="0" anchor="t" anchorCtr="0">
            <a:spAutoFit/>
          </a:bodyPr>
          <a:lstStyle/>
          <a:p>
            <a:pPr algn="just">
              <a:lnSpc>
                <a:spcPct val="150000"/>
              </a:lnSpc>
            </a:pPr>
            <a:r>
              <a:rPr lang="en-CA" sz="2500" b="0" i="0" u="none" strike="noStrike" cap="none" dirty="0">
                <a:solidFill>
                  <a:schemeClr val="bg1"/>
                </a:solidFill>
                <a:latin typeface="DM Sans" pitchFamily="2" charset="77"/>
                <a:ea typeface="Forum"/>
                <a:cs typeface="Forum"/>
                <a:sym typeface="Forum"/>
              </a:rPr>
              <a:t>This project focuses on predicting hotel booking cancellations using a full machine learning pipeline. We tested multiple preprocessing methods, feature selection techniques, and models to identify the most accurate solution for real hotel environments.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F64D75E2-E510-A46A-7DDD-232F3F823463}"/>
              </a:ext>
            </a:extLst>
          </p:cNvPr>
          <p:cNvGrpSpPr/>
          <p:nvPr/>
        </p:nvGrpSpPr>
        <p:grpSpPr>
          <a:xfrm>
            <a:off x="6845225" y="2344013"/>
            <a:ext cx="4690262" cy="5953022"/>
            <a:chOff x="6866490" y="2344013"/>
            <a:chExt cx="4690262" cy="5953022"/>
          </a:xfrm>
        </p:grpSpPr>
        <p:sp>
          <p:nvSpPr>
            <p:cNvPr id="17" name="Google Shape;191;p12">
              <a:extLst>
                <a:ext uri="{FF2B5EF4-FFF2-40B4-BE49-F238E27FC236}">
                  <a16:creationId xmlns:a16="http://schemas.microsoft.com/office/drawing/2014/main" id="{A4BB1D54-D2FA-D7B4-11CB-57BC1DD2468F}"/>
                </a:ext>
              </a:extLst>
            </p:cNvPr>
            <p:cNvSpPr/>
            <p:nvPr/>
          </p:nvSpPr>
          <p:spPr>
            <a:xfrm>
              <a:off x="6866490" y="2344013"/>
              <a:ext cx="4690262" cy="5953022"/>
            </a:xfrm>
            <a:custGeom>
              <a:avLst/>
              <a:gdLst>
                <a:gd name="csX0" fmla="*/ 0 w 4690262"/>
                <a:gd name="csY0" fmla="*/ 0 h 5953022"/>
                <a:gd name="csX1" fmla="*/ 4690262 w 4690262"/>
                <a:gd name="csY1" fmla="*/ 0 h 5953022"/>
                <a:gd name="csX2" fmla="*/ 4690262 w 4690262"/>
                <a:gd name="csY2" fmla="*/ 5953022 h 5953022"/>
                <a:gd name="csX3" fmla="*/ 0 w 4690262"/>
                <a:gd name="csY3" fmla="*/ 5953022 h 5953022"/>
                <a:gd name="csX4" fmla="*/ 0 w 4690262"/>
                <a:gd name="csY4" fmla="*/ 0 h 5953022"/>
              </a:gdLst>
              <a:ahLst/>
              <a:cxnLst>
                <a:cxn ang="0">
                  <a:pos x="csX0" y="csY0"/>
                </a:cxn>
                <a:cxn ang="0">
                  <a:pos x="csX1" y="csY1"/>
                </a:cxn>
                <a:cxn ang="0">
                  <a:pos x="csX2" y="csY2"/>
                </a:cxn>
                <a:cxn ang="0">
                  <a:pos x="csX3" y="csY3"/>
                </a:cxn>
                <a:cxn ang="0">
                  <a:pos x="csX4" y="csY4"/>
                </a:cxn>
              </a:cxnLst>
              <a:rect l="l" t="t" r="r" b="b"/>
              <a:pathLst>
                <a:path w="4690262" h="5953022" extrusionOk="0">
                  <a:moveTo>
                    <a:pt x="0" y="0"/>
                  </a:moveTo>
                  <a:cubicBezTo>
                    <a:pt x="554187" y="-5264"/>
                    <a:pt x="3489902" y="84467"/>
                    <a:pt x="4690262" y="0"/>
                  </a:cubicBezTo>
                  <a:cubicBezTo>
                    <a:pt x="4562089" y="1945786"/>
                    <a:pt x="4819412" y="4840460"/>
                    <a:pt x="4690262" y="5953022"/>
                  </a:cubicBezTo>
                  <a:cubicBezTo>
                    <a:pt x="3536132" y="6059342"/>
                    <a:pt x="2183757" y="5945373"/>
                    <a:pt x="0" y="5953022"/>
                  </a:cubicBezTo>
                  <a:cubicBezTo>
                    <a:pt x="160128" y="4751986"/>
                    <a:pt x="25049" y="2713243"/>
                    <a:pt x="0" y="0"/>
                  </a:cubicBezTo>
                  <a:close/>
                </a:path>
              </a:pathLst>
            </a:custGeom>
            <a:noFill/>
            <a:ln w="19050" cap="flat" cmpd="sng" algn="ctr">
              <a:solidFill>
                <a:schemeClr val="dk1"/>
              </a:solidFill>
              <a:prstDash val="solid"/>
              <a:round/>
              <a:headEnd type="none" w="med" len="med"/>
              <a:tailEnd type="none" w="med" len="med"/>
              <a:extLst>
                <a:ext uri="{C807C97D-BFC1-408E-A445-0C87EB9F89A2}">
                  <ask:lineSketchStyleProps xmlns:ask="http://schemas.microsoft.com/office/drawing/2018/sketchyshapes" sd="2650216993">
                    <a:custGeom>
                      <a:avLst/>
                      <a:gdLst/>
                      <a:ahLst/>
                      <a:cxnLst/>
                      <a:rect l="l" t="t" r="r" b="b"/>
                      <a:pathLst>
                        <a:path w="621746" h="681667" extrusionOk="0">
                          <a:moveTo>
                            <a:pt x="0" y="0"/>
                          </a:moveTo>
                          <a:lnTo>
                            <a:pt x="621746" y="0"/>
                          </a:lnTo>
                          <a:lnTo>
                            <a:pt x="621746" y="681667"/>
                          </a:lnTo>
                          <a:lnTo>
                            <a:pt x="0" y="681667"/>
                          </a:lnTo>
                          <a:close/>
                        </a:path>
                      </a:pathLst>
                    </a:custGeom>
                    <ask:type>
                      <ask:lineSketchCurved/>
                    </ask:type>
                  </ask:lineSketchStyleProps>
                </a:ext>
              </a:extLst>
            </a:ln>
          </p:spPr>
          <p:style>
            <a:lnRef idx="0">
              <a:scrgbClr r="0" g="0" b="0"/>
            </a:lnRef>
            <a:fillRef idx="0">
              <a:scrgbClr r="0" g="0" b="0"/>
            </a:fillRef>
            <a:effectRef idx="0">
              <a:scrgbClr r="0" g="0" b="0"/>
            </a:effectRef>
            <a:fontRef idx="minor">
              <a:schemeClr val="dk1"/>
            </a:fontRef>
          </p:style>
          <p:txBody>
            <a:bodyPr/>
            <a:lstStyle/>
            <a:p>
              <a:endParaRPr lang="en-US" dirty="0">
                <a:solidFill>
                  <a:schemeClr val="tx1"/>
                </a:solidFill>
              </a:endParaRPr>
            </a:p>
          </p:txBody>
        </p:sp>
        <p:sp>
          <p:nvSpPr>
            <p:cNvPr id="19" name="Google Shape;201;p12">
              <a:extLst>
                <a:ext uri="{FF2B5EF4-FFF2-40B4-BE49-F238E27FC236}">
                  <a16:creationId xmlns:a16="http://schemas.microsoft.com/office/drawing/2014/main" id="{AE1B1226-7FE5-A31F-1B66-9FBCC1261683}"/>
                </a:ext>
              </a:extLst>
            </p:cNvPr>
            <p:cNvSpPr txBox="1"/>
            <p:nvPr/>
          </p:nvSpPr>
          <p:spPr>
            <a:xfrm>
              <a:off x="7406264" y="2692792"/>
              <a:ext cx="3753205" cy="30777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0" b="1" i="0" u="none" strike="noStrike" cap="none" dirty="0">
                  <a:solidFill>
                    <a:schemeClr val="tx1"/>
                  </a:solidFill>
                  <a:latin typeface="Inter SemiBold"/>
                  <a:ea typeface="Inter SemiBold"/>
                  <a:cs typeface="Inter SemiBold"/>
                  <a:sym typeface="Inter SemiBold"/>
                </a:rPr>
                <a:t>18</a:t>
              </a:r>
              <a:endParaRPr sz="20000" dirty="0">
                <a:solidFill>
                  <a:schemeClr val="tx1"/>
                </a:solidFill>
              </a:endParaRPr>
            </a:p>
          </p:txBody>
        </p:sp>
        <p:grpSp>
          <p:nvGrpSpPr>
            <p:cNvPr id="20" name="Google Shape;202;p12">
              <a:extLst>
                <a:ext uri="{FF2B5EF4-FFF2-40B4-BE49-F238E27FC236}">
                  <a16:creationId xmlns:a16="http://schemas.microsoft.com/office/drawing/2014/main" id="{BAA0E130-E6FE-7B08-9676-1CE22C9327F5}"/>
                </a:ext>
              </a:extLst>
            </p:cNvPr>
            <p:cNvGrpSpPr/>
            <p:nvPr/>
          </p:nvGrpSpPr>
          <p:grpSpPr>
            <a:xfrm>
              <a:off x="7264666" y="5594021"/>
              <a:ext cx="4036403" cy="860218"/>
              <a:chOff x="0" y="57150"/>
              <a:chExt cx="5919040" cy="1210599"/>
            </a:xfrm>
          </p:grpSpPr>
          <p:sp>
            <p:nvSpPr>
              <p:cNvPr id="21" name="Google Shape;203;p12">
                <a:extLst>
                  <a:ext uri="{FF2B5EF4-FFF2-40B4-BE49-F238E27FC236}">
                    <a16:creationId xmlns:a16="http://schemas.microsoft.com/office/drawing/2014/main" id="{618DAF7A-3A22-CFE2-DFF9-E5DA11A5E866}"/>
                  </a:ext>
                </a:extLst>
              </p:cNvPr>
              <p:cNvSpPr txBox="1"/>
              <p:nvPr/>
            </p:nvSpPr>
            <p:spPr>
              <a:xfrm>
                <a:off x="0" y="57150"/>
                <a:ext cx="5919040" cy="77965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i="0" u="none" strike="noStrike" cap="none" dirty="0">
                    <a:solidFill>
                      <a:schemeClr val="tx1"/>
                    </a:solidFill>
                    <a:latin typeface="Inter"/>
                    <a:ea typeface="Inter"/>
                    <a:cs typeface="Inter"/>
                    <a:sym typeface="Inter"/>
                  </a:rPr>
                  <a:t>FEATURES</a:t>
                </a:r>
                <a:endParaRPr dirty="0">
                  <a:solidFill>
                    <a:schemeClr val="tx1"/>
                  </a:solidFill>
                </a:endParaRPr>
              </a:p>
            </p:txBody>
          </p:sp>
          <p:sp>
            <p:nvSpPr>
              <p:cNvPr id="22" name="Google Shape;204;p12">
                <a:extLst>
                  <a:ext uri="{FF2B5EF4-FFF2-40B4-BE49-F238E27FC236}">
                    <a16:creationId xmlns:a16="http://schemas.microsoft.com/office/drawing/2014/main" id="{FC47DF89-1697-F24D-2E17-556E2BC62EFE}"/>
                  </a:ext>
                </a:extLst>
              </p:cNvPr>
              <p:cNvSpPr txBox="1"/>
              <p:nvPr/>
            </p:nvSpPr>
            <p:spPr>
              <a:xfrm>
                <a:off x="0" y="721994"/>
                <a:ext cx="5919040" cy="54575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dirty="0">
                    <a:solidFill>
                      <a:schemeClr val="tx1"/>
                    </a:solidFill>
                    <a:latin typeface="Inter"/>
                    <a:ea typeface="Inter"/>
                    <a:cs typeface="Inter"/>
                    <a:sym typeface="Inter"/>
                  </a:rPr>
                  <a:t>13 numeric, 3 categorical, 1 ID</a:t>
                </a:r>
                <a:endParaRPr dirty="0">
                  <a:solidFill>
                    <a:schemeClr val="tx1"/>
                  </a:solidFill>
                </a:endParaRPr>
              </a:p>
            </p:txBody>
          </p:sp>
        </p:grpSp>
      </p:grpSp>
      <p:sp>
        <p:nvSpPr>
          <p:cNvPr id="8" name="TextBox 8"/>
          <p:cNvSpPr txBox="1"/>
          <p:nvPr/>
        </p:nvSpPr>
        <p:spPr>
          <a:xfrm>
            <a:off x="5028949" y="8040591"/>
            <a:ext cx="8230101" cy="1946374"/>
          </a:xfrm>
          <a:prstGeom prst="rect">
            <a:avLst/>
          </a:prstGeom>
        </p:spPr>
        <p:txBody>
          <a:bodyPr lIns="0" tIns="0" rIns="0" bIns="0" rtlCol="0" anchor="t">
            <a:spAutoFit/>
          </a:bodyPr>
          <a:lstStyle/>
          <a:p>
            <a:pPr marL="0" marR="0" lvl="0" indent="0" algn="ctr" defTabSz="914400" rtl="0" eaLnBrk="1" fontAlgn="auto" latinLnBrk="0" hangingPunct="1">
              <a:lnSpc>
                <a:spcPts val="14792"/>
              </a:lnSpc>
              <a:spcBef>
                <a:spcPct val="0"/>
              </a:spcBef>
              <a:spcAft>
                <a:spcPts val="0"/>
              </a:spcAft>
              <a:buClrTx/>
              <a:buSzTx/>
              <a:buFontTx/>
              <a:buNone/>
              <a:tabLst/>
              <a:defRPr/>
            </a:pPr>
            <a:r>
              <a:rPr kumimoji="0" lang="en-US" sz="14223" b="0" i="0" u="none" strike="noStrike" kern="1200" cap="none" spc="0" normalizeH="0" baseline="0" noProof="0" dirty="0">
                <a:ln>
                  <a:noFill/>
                </a:ln>
                <a:solidFill>
                  <a:schemeClr val="accent5"/>
                </a:solidFill>
                <a:effectLst/>
                <a:uLnTx/>
                <a:uFillTx/>
                <a:latin typeface="Anton"/>
                <a:ea typeface="Anton"/>
                <a:cs typeface="Anton"/>
                <a:sym typeface="Anton"/>
              </a:rPr>
              <a:t>OVERVIEW</a:t>
            </a:r>
          </a:p>
        </p:txBody>
      </p:sp>
      <p:sp>
        <p:nvSpPr>
          <p:cNvPr id="9" name="TextBox 9"/>
          <p:cNvSpPr txBox="1"/>
          <p:nvPr/>
        </p:nvSpPr>
        <p:spPr>
          <a:xfrm>
            <a:off x="5028949" y="1318617"/>
            <a:ext cx="8230101" cy="1946374"/>
          </a:xfrm>
          <a:prstGeom prst="rect">
            <a:avLst/>
          </a:prstGeom>
        </p:spPr>
        <p:txBody>
          <a:bodyPr lIns="0" tIns="0" rIns="0" bIns="0" rtlCol="0" anchor="t">
            <a:spAutoFit/>
          </a:bodyPr>
          <a:lstStyle/>
          <a:p>
            <a:pPr marL="0" marR="0" lvl="0" indent="0" algn="ctr" defTabSz="914400" rtl="0" eaLnBrk="1" fontAlgn="auto" latinLnBrk="0" hangingPunct="1">
              <a:lnSpc>
                <a:spcPts val="14792"/>
              </a:lnSpc>
              <a:spcBef>
                <a:spcPct val="0"/>
              </a:spcBef>
              <a:spcAft>
                <a:spcPts val="0"/>
              </a:spcAft>
              <a:buClrTx/>
              <a:buSzTx/>
              <a:buFontTx/>
              <a:buNone/>
              <a:tabLst/>
              <a:defRPr/>
            </a:pPr>
            <a:r>
              <a:rPr kumimoji="0" lang="en-US" sz="14223" b="0" i="0" u="none" strike="noStrike" kern="1200" cap="none" spc="0" normalizeH="0" baseline="0" noProof="0" dirty="0">
                <a:ln>
                  <a:noFill/>
                </a:ln>
                <a:solidFill>
                  <a:schemeClr val="accent5"/>
                </a:solidFill>
                <a:effectLst/>
                <a:uLnTx/>
                <a:uFillTx/>
                <a:latin typeface="Anton"/>
                <a:ea typeface="Anton"/>
                <a:cs typeface="Anton"/>
                <a:sym typeface="Anton"/>
              </a:rPr>
              <a:t>DATASET</a:t>
            </a:r>
          </a:p>
        </p:txBody>
      </p:sp>
      <p:grpSp>
        <p:nvGrpSpPr>
          <p:cNvPr id="15" name="Group 14">
            <a:extLst>
              <a:ext uri="{FF2B5EF4-FFF2-40B4-BE49-F238E27FC236}">
                <a16:creationId xmlns:a16="http://schemas.microsoft.com/office/drawing/2014/main" id="{319D920C-E63D-4466-264C-4DF66C37356A}"/>
              </a:ext>
            </a:extLst>
          </p:cNvPr>
          <p:cNvGrpSpPr/>
          <p:nvPr/>
        </p:nvGrpSpPr>
        <p:grpSpPr>
          <a:xfrm>
            <a:off x="106113" y="3120665"/>
            <a:ext cx="6930300" cy="3901345"/>
            <a:chOff x="-299827" y="2486160"/>
            <a:chExt cx="6930300" cy="3901345"/>
          </a:xfrm>
        </p:grpSpPr>
        <p:sp>
          <p:nvSpPr>
            <p:cNvPr id="11" name="Google Shape;188;p12">
              <a:extLst>
                <a:ext uri="{FF2B5EF4-FFF2-40B4-BE49-F238E27FC236}">
                  <a16:creationId xmlns:a16="http://schemas.microsoft.com/office/drawing/2014/main" id="{DC4C865F-5870-1DBA-49C4-E4AAFA7C1B57}"/>
                </a:ext>
              </a:extLst>
            </p:cNvPr>
            <p:cNvSpPr/>
            <p:nvPr/>
          </p:nvSpPr>
          <p:spPr>
            <a:xfrm>
              <a:off x="73046" y="2637562"/>
              <a:ext cx="5921602" cy="3749943"/>
            </a:xfrm>
            <a:custGeom>
              <a:avLst/>
              <a:gdLst>
                <a:gd name="csX0" fmla="*/ 0 w 5921602"/>
                <a:gd name="csY0" fmla="*/ 0 h 3749943"/>
                <a:gd name="csX1" fmla="*/ 5921602 w 5921602"/>
                <a:gd name="csY1" fmla="*/ 0 h 3749943"/>
                <a:gd name="csX2" fmla="*/ 5921602 w 5921602"/>
                <a:gd name="csY2" fmla="*/ 3749943 h 3749943"/>
                <a:gd name="csX3" fmla="*/ 0 w 5921602"/>
                <a:gd name="csY3" fmla="*/ 3749943 h 3749943"/>
                <a:gd name="csX4" fmla="*/ 0 w 5921602"/>
                <a:gd name="csY4" fmla="*/ 0 h 3749943"/>
              </a:gdLst>
              <a:ahLst/>
              <a:cxnLst>
                <a:cxn ang="0">
                  <a:pos x="csX0" y="csY0"/>
                </a:cxn>
                <a:cxn ang="0">
                  <a:pos x="csX1" y="csY1"/>
                </a:cxn>
                <a:cxn ang="0">
                  <a:pos x="csX2" y="csY2"/>
                </a:cxn>
                <a:cxn ang="0">
                  <a:pos x="csX3" y="csY3"/>
                </a:cxn>
                <a:cxn ang="0">
                  <a:pos x="csX4" y="csY4"/>
                </a:cxn>
              </a:cxnLst>
              <a:rect l="l" t="t" r="r" b="b"/>
              <a:pathLst>
                <a:path w="5921602" h="3749943" extrusionOk="0">
                  <a:moveTo>
                    <a:pt x="0" y="0"/>
                  </a:moveTo>
                  <a:cubicBezTo>
                    <a:pt x="602863" y="118645"/>
                    <a:pt x="3797505" y="116012"/>
                    <a:pt x="5921602" y="0"/>
                  </a:cubicBezTo>
                  <a:cubicBezTo>
                    <a:pt x="5788720" y="1787240"/>
                    <a:pt x="6006553" y="3285014"/>
                    <a:pt x="5921602" y="3749943"/>
                  </a:cubicBezTo>
                  <a:cubicBezTo>
                    <a:pt x="3893820" y="3884543"/>
                    <a:pt x="2264079" y="3592747"/>
                    <a:pt x="0" y="3749943"/>
                  </a:cubicBezTo>
                  <a:cubicBezTo>
                    <a:pt x="-20187" y="3171085"/>
                    <a:pt x="-152480" y="1750837"/>
                    <a:pt x="0" y="0"/>
                  </a:cubicBezTo>
                  <a:close/>
                </a:path>
              </a:pathLst>
            </a:custGeom>
            <a:noFill/>
            <a:ln w="19050" cap="flat" cmpd="sng" algn="ctr">
              <a:solidFill>
                <a:schemeClr val="tx1"/>
              </a:solidFill>
              <a:prstDash val="solid"/>
              <a:round/>
              <a:headEnd type="none" w="med" len="med"/>
              <a:tailEnd type="none" w="med" len="med"/>
              <a:extLst>
                <a:ext uri="{C807C97D-BFC1-408E-A445-0C87EB9F89A2}">
                  <ask:lineSketchStyleProps xmlns:ask="http://schemas.microsoft.com/office/drawing/2018/sketchyshapes" sd="1219033472">
                    <a:custGeom>
                      <a:avLst/>
                      <a:gdLst/>
                      <a:ahLst/>
                      <a:cxnLst/>
                      <a:rect l="l" t="t" r="r" b="b"/>
                      <a:pathLst>
                        <a:path w="621746" h="681667" extrusionOk="0">
                          <a:moveTo>
                            <a:pt x="0" y="0"/>
                          </a:moveTo>
                          <a:lnTo>
                            <a:pt x="621746" y="0"/>
                          </a:lnTo>
                          <a:lnTo>
                            <a:pt x="621746" y="681667"/>
                          </a:lnTo>
                          <a:lnTo>
                            <a:pt x="0" y="681667"/>
                          </a:lnTo>
                          <a:close/>
                        </a:path>
                      </a:pathLst>
                    </a:custGeom>
                    <ask:type>
                      <ask:lineSketchCurved/>
                    </ask:type>
                  </ask:lineSketchStyleProps>
                </a:ext>
              </a:extLst>
            </a:ln>
          </p:spPr>
          <p:style>
            <a:lnRef idx="0">
              <a:scrgbClr r="0" g="0" b="0"/>
            </a:lnRef>
            <a:fillRef idx="0">
              <a:scrgbClr r="0" g="0" b="0"/>
            </a:fillRef>
            <a:effectRef idx="0">
              <a:scrgbClr r="0" g="0" b="0"/>
            </a:effectRef>
            <a:fontRef idx="minor">
              <a:schemeClr val="dk1"/>
            </a:fontRef>
          </p:style>
          <p:txBody>
            <a:bodyPr/>
            <a:lstStyle/>
            <a:p>
              <a:endParaRPr lang="en-US" dirty="0">
                <a:solidFill>
                  <a:schemeClr val="tx2">
                    <a:lumMod val="50000"/>
                  </a:schemeClr>
                </a:solidFill>
              </a:endParaRPr>
            </a:p>
          </p:txBody>
        </p:sp>
        <p:sp>
          <p:nvSpPr>
            <p:cNvPr id="13" name="Google Shape;199;p12">
              <a:extLst>
                <a:ext uri="{FF2B5EF4-FFF2-40B4-BE49-F238E27FC236}">
                  <a16:creationId xmlns:a16="http://schemas.microsoft.com/office/drawing/2014/main" id="{1B558306-8CCD-BCA5-E41F-441A050FD5C3}"/>
                </a:ext>
              </a:extLst>
            </p:cNvPr>
            <p:cNvSpPr txBox="1"/>
            <p:nvPr/>
          </p:nvSpPr>
          <p:spPr>
            <a:xfrm>
              <a:off x="517343" y="5436744"/>
              <a:ext cx="5210901"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dirty="0">
                  <a:solidFill>
                    <a:schemeClr val="tx1"/>
                  </a:solidFill>
                  <a:latin typeface="Inter"/>
                  <a:ea typeface="Inter"/>
                  <a:sym typeface="Inter"/>
                </a:rPr>
                <a:t>RECORDS</a:t>
              </a:r>
              <a:endParaRPr dirty="0">
                <a:solidFill>
                  <a:schemeClr val="tx1"/>
                </a:solidFill>
              </a:endParaRPr>
            </a:p>
          </p:txBody>
        </p:sp>
        <p:sp>
          <p:nvSpPr>
            <p:cNvPr id="14" name="Google Shape;205;p12">
              <a:extLst>
                <a:ext uri="{FF2B5EF4-FFF2-40B4-BE49-F238E27FC236}">
                  <a16:creationId xmlns:a16="http://schemas.microsoft.com/office/drawing/2014/main" id="{DC813337-C8D5-024C-42D1-9184DB0F8FF2}"/>
                </a:ext>
              </a:extLst>
            </p:cNvPr>
            <p:cNvSpPr txBox="1"/>
            <p:nvPr/>
          </p:nvSpPr>
          <p:spPr>
            <a:xfrm>
              <a:off x="-299827" y="2486160"/>
              <a:ext cx="6930300" cy="30777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0" b="1" i="0" u="none" strike="noStrike" cap="none" dirty="0">
                  <a:solidFill>
                    <a:schemeClr val="tx1"/>
                  </a:solidFill>
                  <a:latin typeface="Inter SemiBold"/>
                  <a:ea typeface="Inter SemiBold"/>
                  <a:cs typeface="Inter SemiBold"/>
                  <a:sym typeface="Inter SemiBold"/>
                </a:rPr>
                <a:t>36K</a:t>
              </a:r>
              <a:endParaRPr sz="20000" dirty="0">
                <a:solidFill>
                  <a:schemeClr val="tx1"/>
                </a:solidFill>
              </a:endParaRPr>
            </a:p>
          </p:txBody>
        </p:sp>
      </p:grpSp>
      <p:sp>
        <p:nvSpPr>
          <p:cNvPr id="24" name="Google Shape;194;p12">
            <a:extLst>
              <a:ext uri="{FF2B5EF4-FFF2-40B4-BE49-F238E27FC236}">
                <a16:creationId xmlns:a16="http://schemas.microsoft.com/office/drawing/2014/main" id="{9B81E49C-CFA1-33F1-9890-7387B3C87AF9}"/>
              </a:ext>
            </a:extLst>
          </p:cNvPr>
          <p:cNvSpPr/>
          <p:nvPr/>
        </p:nvSpPr>
        <p:spPr>
          <a:xfrm>
            <a:off x="11926603" y="2959729"/>
            <a:ext cx="5882916" cy="3890499"/>
          </a:xfrm>
          <a:custGeom>
            <a:avLst/>
            <a:gdLst>
              <a:gd name="csX0" fmla="*/ 0 w 5882916"/>
              <a:gd name="csY0" fmla="*/ 0 h 3890499"/>
              <a:gd name="csX1" fmla="*/ 5882916 w 5882916"/>
              <a:gd name="csY1" fmla="*/ 0 h 3890499"/>
              <a:gd name="csX2" fmla="*/ 5882916 w 5882916"/>
              <a:gd name="csY2" fmla="*/ 3890499 h 3890499"/>
              <a:gd name="csX3" fmla="*/ 0 w 5882916"/>
              <a:gd name="csY3" fmla="*/ 3890499 h 3890499"/>
              <a:gd name="csX4" fmla="*/ 0 w 5882916"/>
              <a:gd name="csY4" fmla="*/ 0 h 3890499"/>
            </a:gdLst>
            <a:ahLst/>
            <a:cxnLst>
              <a:cxn ang="0">
                <a:pos x="csX0" y="csY0"/>
              </a:cxn>
              <a:cxn ang="0">
                <a:pos x="csX1" y="csY1"/>
              </a:cxn>
              <a:cxn ang="0">
                <a:pos x="csX2" y="csY2"/>
              </a:cxn>
              <a:cxn ang="0">
                <a:pos x="csX3" y="csY3"/>
              </a:cxn>
              <a:cxn ang="0">
                <a:pos x="csX4" y="csY4"/>
              </a:cxn>
            </a:cxnLst>
            <a:rect l="l" t="t" r="r" b="b"/>
            <a:pathLst>
              <a:path w="5882916" h="3890499" extrusionOk="0">
                <a:moveTo>
                  <a:pt x="0" y="0"/>
                </a:moveTo>
                <a:cubicBezTo>
                  <a:pt x="2378206" y="-109404"/>
                  <a:pt x="4436245" y="-69256"/>
                  <a:pt x="5882916" y="0"/>
                </a:cubicBezTo>
                <a:cubicBezTo>
                  <a:pt x="5866221" y="618231"/>
                  <a:pt x="5960345" y="2455582"/>
                  <a:pt x="5882916" y="3890499"/>
                </a:cubicBezTo>
                <a:cubicBezTo>
                  <a:pt x="3357855" y="3941419"/>
                  <a:pt x="1231828" y="3815809"/>
                  <a:pt x="0" y="3890499"/>
                </a:cubicBezTo>
                <a:cubicBezTo>
                  <a:pt x="127317" y="2175281"/>
                  <a:pt x="-72729" y="499263"/>
                  <a:pt x="0" y="0"/>
                </a:cubicBezTo>
                <a:close/>
              </a:path>
            </a:pathLst>
          </a:custGeom>
          <a:noFill/>
          <a:ln w="19050">
            <a:solidFill>
              <a:schemeClr val="tx1"/>
            </a:solidFill>
            <a:extLst>
              <a:ext uri="{C807C97D-BFC1-408E-A445-0C87EB9F89A2}">
                <ask:lineSketchStyleProps xmlns:ask="http://schemas.microsoft.com/office/drawing/2018/sketchyshapes" sd="4266498984">
                  <a:custGeom>
                    <a:avLst/>
                    <a:gdLst/>
                    <a:ahLst/>
                    <a:cxnLst/>
                    <a:rect l="l" t="t" r="r" b="b"/>
                    <a:pathLst>
                      <a:path w="621746" h="681667" extrusionOk="0">
                        <a:moveTo>
                          <a:pt x="0" y="0"/>
                        </a:moveTo>
                        <a:lnTo>
                          <a:pt x="621746" y="0"/>
                        </a:lnTo>
                        <a:lnTo>
                          <a:pt x="621746" y="681667"/>
                        </a:lnTo>
                        <a:lnTo>
                          <a:pt x="0" y="681667"/>
                        </a:lnTo>
                        <a:close/>
                      </a:path>
                    </a:pathLst>
                  </a:custGeom>
                  <ask:type>
                    <ask:lineSketchCurved/>
                  </ask:type>
                </ask:lineSketchStyleProps>
              </a:ext>
            </a:extLst>
          </a:ln>
        </p:spPr>
        <p:style>
          <a:lnRef idx="0">
            <a:scrgbClr r="0" g="0" b="0"/>
          </a:lnRef>
          <a:fillRef idx="0">
            <a:scrgbClr r="0" g="0" b="0"/>
          </a:fillRef>
          <a:effectRef idx="0">
            <a:scrgbClr r="0" g="0" b="0"/>
          </a:effectRef>
          <a:fontRef idx="minor">
            <a:schemeClr val="dk1"/>
          </a:fontRef>
        </p:style>
        <p:txBody>
          <a:bodyPr/>
          <a:lstStyle/>
          <a:p>
            <a:endParaRPr lang="en-US" dirty="0"/>
          </a:p>
        </p:txBody>
      </p:sp>
      <p:sp>
        <p:nvSpPr>
          <p:cNvPr id="26" name="Google Shape;205;p12">
            <a:extLst>
              <a:ext uri="{FF2B5EF4-FFF2-40B4-BE49-F238E27FC236}">
                <a16:creationId xmlns:a16="http://schemas.microsoft.com/office/drawing/2014/main" id="{86C5507F-671E-8289-DFED-1BA7639D1354}"/>
              </a:ext>
            </a:extLst>
          </p:cNvPr>
          <p:cNvSpPr txBox="1"/>
          <p:nvPr/>
        </p:nvSpPr>
        <p:spPr>
          <a:xfrm>
            <a:off x="11650157" y="2662497"/>
            <a:ext cx="6094850" cy="30777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0" b="1" i="0" u="none" strike="noStrike" cap="none" dirty="0">
                <a:solidFill>
                  <a:schemeClr val="tx1"/>
                </a:solidFill>
                <a:latin typeface="Inter SemiBold"/>
                <a:ea typeface="Inter SemiBold"/>
                <a:cs typeface="Inter SemiBold"/>
                <a:sym typeface="Inter SemiBold"/>
              </a:rPr>
              <a:t>NO</a:t>
            </a:r>
            <a:endParaRPr sz="20000" dirty="0">
              <a:solidFill>
                <a:schemeClr val="tx1"/>
              </a:solidFill>
            </a:endParaRPr>
          </a:p>
        </p:txBody>
      </p:sp>
      <p:sp>
        <p:nvSpPr>
          <p:cNvPr id="27" name="Google Shape;207;p12">
            <a:extLst>
              <a:ext uri="{FF2B5EF4-FFF2-40B4-BE49-F238E27FC236}">
                <a16:creationId xmlns:a16="http://schemas.microsoft.com/office/drawing/2014/main" id="{2971D3AE-6666-9B90-FA9B-BC403EDAE22A}"/>
              </a:ext>
            </a:extLst>
          </p:cNvPr>
          <p:cNvSpPr txBox="1"/>
          <p:nvPr/>
        </p:nvSpPr>
        <p:spPr>
          <a:xfrm>
            <a:off x="11965055" y="5770558"/>
            <a:ext cx="5751059" cy="49244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200" b="1" i="0" u="none" strike="noStrike" cap="none" dirty="0">
                <a:solidFill>
                  <a:schemeClr val="tx1"/>
                </a:solidFill>
                <a:latin typeface="Inter"/>
                <a:ea typeface="Inter"/>
                <a:cs typeface="Inter"/>
                <a:sym typeface="Inter"/>
              </a:rPr>
              <a:t>NULL VALUES | DUPLICATES</a:t>
            </a:r>
            <a:endParaRPr sz="3200" dirty="0">
              <a:solidFill>
                <a:schemeClr val="tx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09F5E8E-113B-B3F9-9B0F-0143789D65A3}"/>
              </a:ext>
            </a:extLst>
          </p:cNvPr>
          <p:cNvGraphicFramePr>
            <a:graphicFrameLocks noGrp="1"/>
          </p:cNvGraphicFramePr>
          <p:nvPr>
            <p:extLst>
              <p:ext uri="{D42A27DB-BD31-4B8C-83A1-F6EECF244321}">
                <p14:modId xmlns:p14="http://schemas.microsoft.com/office/powerpoint/2010/main" val="628431376"/>
              </p:ext>
            </p:extLst>
          </p:nvPr>
        </p:nvGraphicFramePr>
        <p:xfrm>
          <a:off x="1155030" y="631342"/>
          <a:ext cx="13764127" cy="9024316"/>
        </p:xfrm>
        <a:graphic>
          <a:graphicData uri="http://schemas.openxmlformats.org/drawingml/2006/table">
            <a:tbl>
              <a:tblPr/>
              <a:tblGrid>
                <a:gridCol w="5749877">
                  <a:extLst>
                    <a:ext uri="{9D8B030D-6E8A-4147-A177-3AD203B41FA5}">
                      <a16:colId xmlns:a16="http://schemas.microsoft.com/office/drawing/2014/main" val="4075954705"/>
                    </a:ext>
                  </a:extLst>
                </a:gridCol>
                <a:gridCol w="2118776">
                  <a:extLst>
                    <a:ext uri="{9D8B030D-6E8A-4147-A177-3AD203B41FA5}">
                      <a16:colId xmlns:a16="http://schemas.microsoft.com/office/drawing/2014/main" val="3459675139"/>
                    </a:ext>
                  </a:extLst>
                </a:gridCol>
                <a:gridCol w="5895474">
                  <a:extLst>
                    <a:ext uri="{9D8B030D-6E8A-4147-A177-3AD203B41FA5}">
                      <a16:colId xmlns:a16="http://schemas.microsoft.com/office/drawing/2014/main" val="1749145015"/>
                    </a:ext>
                  </a:extLst>
                </a:gridCol>
              </a:tblGrid>
              <a:tr h="340337">
                <a:tc>
                  <a:txBody>
                    <a:bodyPr/>
                    <a:lstStyle/>
                    <a:p>
                      <a:r>
                        <a:rPr lang="en-GB" sz="2000" b="1" dirty="0">
                          <a:latin typeface="DM Sans" pitchFamily="2" charset="77"/>
                        </a:rPr>
                        <a:t>Feature</a:t>
                      </a:r>
                    </a:p>
                  </a:txBody>
                  <a:tcPr marL="41464" marR="41464" marT="20732" marB="20732" anchor="ctr">
                    <a:lnL>
                      <a:noFill/>
                    </a:lnL>
                    <a:lnR>
                      <a:noFill/>
                    </a:lnR>
                    <a:lnT>
                      <a:noFill/>
                    </a:lnT>
                    <a:lnB>
                      <a:noFill/>
                    </a:lnB>
                  </a:tcPr>
                </a:tc>
                <a:tc>
                  <a:txBody>
                    <a:bodyPr/>
                    <a:lstStyle/>
                    <a:p>
                      <a:r>
                        <a:rPr lang="en-GB" sz="2000" b="1" dirty="0">
                          <a:latin typeface="DM Sans" pitchFamily="2" charset="77"/>
                        </a:rPr>
                        <a:t>Type</a:t>
                      </a:r>
                    </a:p>
                  </a:txBody>
                  <a:tcPr marL="41464" marR="41464" marT="20732" marB="20732" anchor="ctr">
                    <a:lnL>
                      <a:noFill/>
                    </a:lnL>
                    <a:lnR>
                      <a:noFill/>
                    </a:lnR>
                    <a:lnT>
                      <a:noFill/>
                    </a:lnT>
                    <a:lnB>
                      <a:noFill/>
                    </a:lnB>
                  </a:tcPr>
                </a:tc>
                <a:tc>
                  <a:txBody>
                    <a:bodyPr/>
                    <a:lstStyle/>
                    <a:p>
                      <a:r>
                        <a:rPr lang="en-GB" sz="2000" b="1" dirty="0">
                          <a:latin typeface="DM Sans" pitchFamily="2" charset="77"/>
                        </a:rPr>
                        <a:t>Description</a:t>
                      </a:r>
                    </a:p>
                  </a:txBody>
                  <a:tcPr marL="41464" marR="41464" marT="20732" marB="20732" anchor="ctr">
                    <a:lnL>
                      <a:noFill/>
                    </a:lnL>
                    <a:lnR>
                      <a:noFill/>
                    </a:lnR>
                    <a:lnT>
                      <a:noFill/>
                    </a:lnT>
                    <a:lnB>
                      <a:noFill/>
                    </a:lnB>
                  </a:tcPr>
                </a:tc>
                <a:extLst>
                  <a:ext uri="{0D108BD9-81ED-4DB2-BD59-A6C34878D82A}">
                    <a16:rowId xmlns:a16="http://schemas.microsoft.com/office/drawing/2014/main" val="2066324823"/>
                  </a:ext>
                </a:extLst>
              </a:tr>
              <a:tr h="477353">
                <a:tc>
                  <a:txBody>
                    <a:bodyPr/>
                    <a:lstStyle/>
                    <a:p>
                      <a:r>
                        <a:rPr lang="en-GB" sz="2000">
                          <a:latin typeface="DM Sans" pitchFamily="2" charset="77"/>
                        </a:rPr>
                        <a:t>Booking_ID</a:t>
                      </a:r>
                    </a:p>
                  </a:txBody>
                  <a:tcPr marL="41464" marR="41464" marT="20732" marB="20732" anchor="ctr">
                    <a:lnL>
                      <a:noFill/>
                    </a:lnL>
                    <a:lnR>
                      <a:noFill/>
                    </a:lnR>
                    <a:lnT>
                      <a:noFill/>
                    </a:lnT>
                    <a:lnB>
                      <a:noFill/>
                    </a:lnB>
                  </a:tcPr>
                </a:tc>
                <a:tc>
                  <a:txBody>
                    <a:bodyPr/>
                    <a:lstStyle/>
                    <a:p>
                      <a:r>
                        <a:rPr lang="en-GB" sz="2000">
                          <a:latin typeface="DM Sans" pitchFamily="2" charset="77"/>
                        </a:rPr>
                        <a:t>Object</a:t>
                      </a:r>
                    </a:p>
                  </a:txBody>
                  <a:tcPr marL="41464" marR="41464" marT="20732" marB="20732" anchor="ctr">
                    <a:lnL>
                      <a:noFill/>
                    </a:lnL>
                    <a:lnR>
                      <a:noFill/>
                    </a:lnR>
                    <a:lnT>
                      <a:noFill/>
                    </a:lnT>
                    <a:lnB>
                      <a:noFill/>
                    </a:lnB>
                  </a:tcPr>
                </a:tc>
                <a:tc>
                  <a:txBody>
                    <a:bodyPr/>
                    <a:lstStyle/>
                    <a:p>
                      <a:r>
                        <a:rPr lang="en-US" sz="2000">
                          <a:latin typeface="DM Sans" pitchFamily="2" charset="77"/>
                        </a:rPr>
                        <a:t>Unique identifier for each booking</a:t>
                      </a:r>
                    </a:p>
                  </a:txBody>
                  <a:tcPr marL="41464" marR="41464" marT="20732" marB="20732" anchor="ctr">
                    <a:lnL>
                      <a:noFill/>
                    </a:lnL>
                    <a:lnR>
                      <a:noFill/>
                    </a:lnR>
                    <a:lnT>
                      <a:noFill/>
                    </a:lnT>
                    <a:lnB>
                      <a:noFill/>
                    </a:lnB>
                  </a:tcPr>
                </a:tc>
                <a:extLst>
                  <a:ext uri="{0D108BD9-81ED-4DB2-BD59-A6C34878D82A}">
                    <a16:rowId xmlns:a16="http://schemas.microsoft.com/office/drawing/2014/main" val="2504490176"/>
                  </a:ext>
                </a:extLst>
              </a:tr>
              <a:tr h="340337">
                <a:tc>
                  <a:txBody>
                    <a:bodyPr/>
                    <a:lstStyle/>
                    <a:p>
                      <a:r>
                        <a:rPr lang="en-GB" sz="2000">
                          <a:latin typeface="DM Sans" pitchFamily="2" charset="77"/>
                        </a:rPr>
                        <a:t>no_of_adults</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Number of adults per reservation</a:t>
                      </a:r>
                    </a:p>
                  </a:txBody>
                  <a:tcPr marL="41464" marR="41464" marT="20732" marB="20732" anchor="ctr">
                    <a:lnL>
                      <a:noFill/>
                    </a:lnL>
                    <a:lnR>
                      <a:noFill/>
                    </a:lnR>
                    <a:lnT>
                      <a:noFill/>
                    </a:lnT>
                    <a:lnB>
                      <a:noFill/>
                    </a:lnB>
                  </a:tcPr>
                </a:tc>
                <a:extLst>
                  <a:ext uri="{0D108BD9-81ED-4DB2-BD59-A6C34878D82A}">
                    <a16:rowId xmlns:a16="http://schemas.microsoft.com/office/drawing/2014/main" val="3585528681"/>
                  </a:ext>
                </a:extLst>
              </a:tr>
              <a:tr h="607881">
                <a:tc>
                  <a:txBody>
                    <a:bodyPr/>
                    <a:lstStyle/>
                    <a:p>
                      <a:r>
                        <a:rPr lang="en-GB" sz="2000">
                          <a:latin typeface="DM Sans" pitchFamily="2" charset="77"/>
                        </a:rPr>
                        <a:t>no_of_children</a:t>
                      </a:r>
                    </a:p>
                  </a:txBody>
                  <a:tcPr marL="41464" marR="41464" marT="20732" marB="20732" anchor="ctr">
                    <a:lnL>
                      <a:noFill/>
                    </a:lnL>
                    <a:lnR>
                      <a:noFill/>
                    </a:lnR>
                    <a:lnT>
                      <a:noFill/>
                    </a:lnT>
                    <a:lnB>
                      <a:noFill/>
                    </a:lnB>
                  </a:tcPr>
                </a:tc>
                <a:tc>
                  <a:txBody>
                    <a:bodyPr/>
                    <a:lstStyle/>
                    <a:p>
                      <a:r>
                        <a:rPr lang="en-GB" sz="2000" dirty="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Number of children per reservation</a:t>
                      </a:r>
                    </a:p>
                  </a:txBody>
                  <a:tcPr marL="41464" marR="41464" marT="20732" marB="20732" anchor="ctr">
                    <a:lnL>
                      <a:noFill/>
                    </a:lnL>
                    <a:lnR>
                      <a:noFill/>
                    </a:lnR>
                    <a:lnT>
                      <a:noFill/>
                    </a:lnT>
                    <a:lnB>
                      <a:noFill/>
                    </a:lnB>
                  </a:tcPr>
                </a:tc>
                <a:extLst>
                  <a:ext uri="{0D108BD9-81ED-4DB2-BD59-A6C34878D82A}">
                    <a16:rowId xmlns:a16="http://schemas.microsoft.com/office/drawing/2014/main" val="3923188108"/>
                  </a:ext>
                </a:extLst>
              </a:tr>
              <a:tr h="607881">
                <a:tc>
                  <a:txBody>
                    <a:bodyPr/>
                    <a:lstStyle/>
                    <a:p>
                      <a:r>
                        <a:rPr lang="en-GB" sz="2000">
                          <a:latin typeface="DM Sans" pitchFamily="2" charset="77"/>
                        </a:rPr>
                        <a:t>no_of_weekend_nights</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Number of weekend nights booked</a:t>
                      </a:r>
                    </a:p>
                  </a:txBody>
                  <a:tcPr marL="41464" marR="41464" marT="20732" marB="20732" anchor="ctr">
                    <a:lnL>
                      <a:noFill/>
                    </a:lnL>
                    <a:lnR>
                      <a:noFill/>
                    </a:lnR>
                    <a:lnT>
                      <a:noFill/>
                    </a:lnT>
                    <a:lnB>
                      <a:noFill/>
                    </a:lnB>
                  </a:tcPr>
                </a:tc>
                <a:extLst>
                  <a:ext uri="{0D108BD9-81ED-4DB2-BD59-A6C34878D82A}">
                    <a16:rowId xmlns:a16="http://schemas.microsoft.com/office/drawing/2014/main" val="3281729919"/>
                  </a:ext>
                </a:extLst>
              </a:tr>
              <a:tr h="607881">
                <a:tc>
                  <a:txBody>
                    <a:bodyPr/>
                    <a:lstStyle/>
                    <a:p>
                      <a:r>
                        <a:rPr lang="en-GB" sz="2000">
                          <a:latin typeface="DM Sans" pitchFamily="2" charset="77"/>
                        </a:rPr>
                        <a:t>no_of_week_nights</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Number of weekday nights booked</a:t>
                      </a:r>
                    </a:p>
                  </a:txBody>
                  <a:tcPr marL="41464" marR="41464" marT="20732" marB="20732" anchor="ctr">
                    <a:lnL>
                      <a:noFill/>
                    </a:lnL>
                    <a:lnR>
                      <a:noFill/>
                    </a:lnR>
                    <a:lnT>
                      <a:noFill/>
                    </a:lnT>
                    <a:lnB>
                      <a:noFill/>
                    </a:lnB>
                  </a:tcPr>
                </a:tc>
                <a:extLst>
                  <a:ext uri="{0D108BD9-81ED-4DB2-BD59-A6C34878D82A}">
                    <a16:rowId xmlns:a16="http://schemas.microsoft.com/office/drawing/2014/main" val="2857466237"/>
                  </a:ext>
                </a:extLst>
              </a:tr>
              <a:tr h="340337">
                <a:tc>
                  <a:txBody>
                    <a:bodyPr/>
                    <a:lstStyle/>
                    <a:p>
                      <a:r>
                        <a:rPr lang="en-GB" sz="2000">
                          <a:latin typeface="DM Sans" pitchFamily="2" charset="77"/>
                        </a:rPr>
                        <a:t>type_of_meal_plan</a:t>
                      </a:r>
                    </a:p>
                  </a:txBody>
                  <a:tcPr marL="41464" marR="41464" marT="20732" marB="20732" anchor="ctr">
                    <a:lnL>
                      <a:noFill/>
                    </a:lnL>
                    <a:lnR>
                      <a:noFill/>
                    </a:lnR>
                    <a:lnT>
                      <a:noFill/>
                    </a:lnT>
                    <a:lnB>
                      <a:noFill/>
                    </a:lnB>
                  </a:tcPr>
                </a:tc>
                <a:tc>
                  <a:txBody>
                    <a:bodyPr/>
                    <a:lstStyle/>
                    <a:p>
                      <a:r>
                        <a:rPr lang="en-GB" sz="2000">
                          <a:latin typeface="DM Sans" pitchFamily="2" charset="77"/>
                        </a:rPr>
                        <a:t>Categorical</a:t>
                      </a:r>
                    </a:p>
                  </a:txBody>
                  <a:tcPr marL="41464" marR="41464" marT="20732" marB="20732" anchor="ctr">
                    <a:lnL>
                      <a:noFill/>
                    </a:lnL>
                    <a:lnR>
                      <a:noFill/>
                    </a:lnR>
                    <a:lnT>
                      <a:noFill/>
                    </a:lnT>
                    <a:lnB>
                      <a:noFill/>
                    </a:lnB>
                  </a:tcPr>
                </a:tc>
                <a:tc>
                  <a:txBody>
                    <a:bodyPr/>
                    <a:lstStyle/>
                    <a:p>
                      <a:r>
                        <a:rPr lang="en-US" sz="2000">
                          <a:latin typeface="DM Sans" pitchFamily="2" charset="77"/>
                        </a:rPr>
                        <a:t>Type of meal plan selected</a:t>
                      </a:r>
                    </a:p>
                  </a:txBody>
                  <a:tcPr marL="41464" marR="41464" marT="20732" marB="20732" anchor="ctr">
                    <a:lnL>
                      <a:noFill/>
                    </a:lnL>
                    <a:lnR>
                      <a:noFill/>
                    </a:lnR>
                    <a:lnT>
                      <a:noFill/>
                    </a:lnT>
                    <a:lnB>
                      <a:noFill/>
                    </a:lnB>
                  </a:tcPr>
                </a:tc>
                <a:extLst>
                  <a:ext uri="{0D108BD9-81ED-4DB2-BD59-A6C34878D82A}">
                    <a16:rowId xmlns:a16="http://schemas.microsoft.com/office/drawing/2014/main" val="3160413455"/>
                  </a:ext>
                </a:extLst>
              </a:tr>
              <a:tr h="477353">
                <a:tc>
                  <a:txBody>
                    <a:bodyPr/>
                    <a:lstStyle/>
                    <a:p>
                      <a:r>
                        <a:rPr lang="en-GB" sz="2000">
                          <a:latin typeface="DM Sans" pitchFamily="2" charset="77"/>
                        </a:rPr>
                        <a:t>required_car_parking_space</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Whether parking is required (0/1)</a:t>
                      </a:r>
                    </a:p>
                  </a:txBody>
                  <a:tcPr marL="41464" marR="41464" marT="20732" marB="20732" anchor="ctr">
                    <a:lnL>
                      <a:noFill/>
                    </a:lnL>
                    <a:lnR>
                      <a:noFill/>
                    </a:lnR>
                    <a:lnT>
                      <a:noFill/>
                    </a:lnT>
                    <a:lnB>
                      <a:noFill/>
                    </a:lnB>
                  </a:tcPr>
                </a:tc>
                <a:extLst>
                  <a:ext uri="{0D108BD9-81ED-4DB2-BD59-A6C34878D82A}">
                    <a16:rowId xmlns:a16="http://schemas.microsoft.com/office/drawing/2014/main" val="3255308614"/>
                  </a:ext>
                </a:extLst>
              </a:tr>
              <a:tr h="340337">
                <a:tc>
                  <a:txBody>
                    <a:bodyPr/>
                    <a:lstStyle/>
                    <a:p>
                      <a:r>
                        <a:rPr lang="en-GB" sz="2000">
                          <a:latin typeface="DM Sans" pitchFamily="2" charset="77"/>
                        </a:rPr>
                        <a:t>room_type_reserved</a:t>
                      </a:r>
                    </a:p>
                  </a:txBody>
                  <a:tcPr marL="41464" marR="41464" marT="20732" marB="20732" anchor="ctr">
                    <a:lnL>
                      <a:noFill/>
                    </a:lnL>
                    <a:lnR>
                      <a:noFill/>
                    </a:lnR>
                    <a:lnT>
                      <a:noFill/>
                    </a:lnT>
                    <a:lnB>
                      <a:noFill/>
                    </a:lnB>
                  </a:tcPr>
                </a:tc>
                <a:tc>
                  <a:txBody>
                    <a:bodyPr/>
                    <a:lstStyle/>
                    <a:p>
                      <a:r>
                        <a:rPr lang="en-GB" sz="2000">
                          <a:latin typeface="DM Sans" pitchFamily="2" charset="77"/>
                        </a:rPr>
                        <a:t>Categorical</a:t>
                      </a:r>
                    </a:p>
                  </a:txBody>
                  <a:tcPr marL="41464" marR="41464" marT="20732" marB="20732" anchor="ctr">
                    <a:lnL>
                      <a:noFill/>
                    </a:lnL>
                    <a:lnR>
                      <a:noFill/>
                    </a:lnR>
                    <a:lnT>
                      <a:noFill/>
                    </a:lnT>
                    <a:lnB>
                      <a:noFill/>
                    </a:lnB>
                  </a:tcPr>
                </a:tc>
                <a:tc>
                  <a:txBody>
                    <a:bodyPr/>
                    <a:lstStyle/>
                    <a:p>
                      <a:r>
                        <a:rPr lang="en-GB" sz="2000">
                          <a:latin typeface="DM Sans" pitchFamily="2" charset="77"/>
                        </a:rPr>
                        <a:t>Type of room selected</a:t>
                      </a:r>
                    </a:p>
                  </a:txBody>
                  <a:tcPr marL="41464" marR="41464" marT="20732" marB="20732" anchor="ctr">
                    <a:lnL>
                      <a:noFill/>
                    </a:lnL>
                    <a:lnR>
                      <a:noFill/>
                    </a:lnR>
                    <a:lnT>
                      <a:noFill/>
                    </a:lnT>
                    <a:lnB>
                      <a:noFill/>
                    </a:lnB>
                  </a:tcPr>
                </a:tc>
                <a:extLst>
                  <a:ext uri="{0D108BD9-81ED-4DB2-BD59-A6C34878D82A}">
                    <a16:rowId xmlns:a16="http://schemas.microsoft.com/office/drawing/2014/main" val="321986030"/>
                  </a:ext>
                </a:extLst>
              </a:tr>
              <a:tr h="607881">
                <a:tc>
                  <a:txBody>
                    <a:bodyPr/>
                    <a:lstStyle/>
                    <a:p>
                      <a:r>
                        <a:rPr lang="en-GB" sz="2000">
                          <a:latin typeface="DM Sans" pitchFamily="2" charset="77"/>
                        </a:rPr>
                        <a:t>lead_time</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Number of days before arrival the booking was made</a:t>
                      </a:r>
                    </a:p>
                  </a:txBody>
                  <a:tcPr marL="41464" marR="41464" marT="20732" marB="20732" anchor="ctr">
                    <a:lnL>
                      <a:noFill/>
                    </a:lnL>
                    <a:lnR>
                      <a:noFill/>
                    </a:lnR>
                    <a:lnT>
                      <a:noFill/>
                    </a:lnT>
                    <a:lnB>
                      <a:noFill/>
                    </a:lnB>
                  </a:tcPr>
                </a:tc>
                <a:extLst>
                  <a:ext uri="{0D108BD9-81ED-4DB2-BD59-A6C34878D82A}">
                    <a16:rowId xmlns:a16="http://schemas.microsoft.com/office/drawing/2014/main" val="1404142696"/>
                  </a:ext>
                </a:extLst>
              </a:tr>
              <a:tr h="340337">
                <a:tc>
                  <a:txBody>
                    <a:bodyPr/>
                    <a:lstStyle/>
                    <a:p>
                      <a:r>
                        <a:rPr lang="en-GB" sz="2000" dirty="0" err="1">
                          <a:latin typeface="DM Sans" pitchFamily="2" charset="77"/>
                        </a:rPr>
                        <a:t>arrival_date</a:t>
                      </a:r>
                      <a:endParaRPr lang="en-GB" sz="2000" dirty="0">
                        <a:latin typeface="DM Sans" pitchFamily="2" charset="77"/>
                      </a:endParaRPr>
                    </a:p>
                  </a:txBody>
                  <a:tcPr marL="41464" marR="41464" marT="20732" marB="20732" anchor="ctr">
                    <a:lnL>
                      <a:noFill/>
                    </a:lnL>
                    <a:lnR>
                      <a:noFill/>
                    </a:lnR>
                    <a:lnT>
                      <a:noFill/>
                    </a:lnT>
                    <a:lnB>
                      <a:noFill/>
                    </a:lnB>
                  </a:tcPr>
                </a:tc>
                <a:tc>
                  <a:txBody>
                    <a:bodyPr/>
                    <a:lstStyle/>
                    <a:p>
                      <a:r>
                        <a:rPr lang="en-GB" sz="2000">
                          <a:latin typeface="DM Sans" pitchFamily="2" charset="77"/>
                        </a:rPr>
                        <a:t>Date</a:t>
                      </a:r>
                    </a:p>
                  </a:txBody>
                  <a:tcPr marL="41464" marR="41464" marT="20732" marB="20732" anchor="ctr">
                    <a:lnL>
                      <a:noFill/>
                    </a:lnL>
                    <a:lnR>
                      <a:noFill/>
                    </a:lnR>
                    <a:lnT>
                      <a:noFill/>
                    </a:lnT>
                    <a:lnB>
                      <a:noFill/>
                    </a:lnB>
                  </a:tcPr>
                </a:tc>
                <a:tc>
                  <a:txBody>
                    <a:bodyPr/>
                    <a:lstStyle/>
                    <a:p>
                      <a:r>
                        <a:rPr lang="en-GB" sz="2000">
                          <a:latin typeface="DM Sans" pitchFamily="2" charset="77"/>
                        </a:rPr>
                        <a:t>Date of arrival</a:t>
                      </a:r>
                    </a:p>
                  </a:txBody>
                  <a:tcPr marL="41464" marR="41464" marT="20732" marB="20732" anchor="ctr">
                    <a:lnL>
                      <a:noFill/>
                    </a:lnL>
                    <a:lnR>
                      <a:noFill/>
                    </a:lnR>
                    <a:lnT>
                      <a:noFill/>
                    </a:lnT>
                    <a:lnB>
                      <a:noFill/>
                    </a:lnB>
                  </a:tcPr>
                </a:tc>
                <a:extLst>
                  <a:ext uri="{0D108BD9-81ED-4DB2-BD59-A6C34878D82A}">
                    <a16:rowId xmlns:a16="http://schemas.microsoft.com/office/drawing/2014/main" val="551105518"/>
                  </a:ext>
                </a:extLst>
              </a:tr>
              <a:tr h="607881">
                <a:tc>
                  <a:txBody>
                    <a:bodyPr/>
                    <a:lstStyle/>
                    <a:p>
                      <a:r>
                        <a:rPr lang="en-GB" sz="2000" dirty="0" err="1">
                          <a:latin typeface="DM Sans" pitchFamily="2" charset="77"/>
                        </a:rPr>
                        <a:t>market_segment_type</a:t>
                      </a:r>
                      <a:endParaRPr lang="en-GB" sz="2000" dirty="0">
                        <a:latin typeface="DM Sans" pitchFamily="2" charset="77"/>
                      </a:endParaRPr>
                    </a:p>
                  </a:txBody>
                  <a:tcPr marL="41464" marR="41464" marT="20732" marB="20732" anchor="ctr">
                    <a:lnL>
                      <a:noFill/>
                    </a:lnL>
                    <a:lnR>
                      <a:noFill/>
                    </a:lnR>
                    <a:lnT>
                      <a:noFill/>
                    </a:lnT>
                    <a:lnB>
                      <a:noFill/>
                    </a:lnB>
                  </a:tcPr>
                </a:tc>
                <a:tc>
                  <a:txBody>
                    <a:bodyPr/>
                    <a:lstStyle/>
                    <a:p>
                      <a:r>
                        <a:rPr lang="en-GB" sz="2000">
                          <a:latin typeface="DM Sans" pitchFamily="2" charset="77"/>
                        </a:rPr>
                        <a:t>Categorical</a:t>
                      </a:r>
                    </a:p>
                  </a:txBody>
                  <a:tcPr marL="41464" marR="41464" marT="20732" marB="20732" anchor="ctr">
                    <a:lnL>
                      <a:noFill/>
                    </a:lnL>
                    <a:lnR>
                      <a:noFill/>
                    </a:lnR>
                    <a:lnT>
                      <a:noFill/>
                    </a:lnT>
                    <a:lnB>
                      <a:noFill/>
                    </a:lnB>
                  </a:tcPr>
                </a:tc>
                <a:tc>
                  <a:txBody>
                    <a:bodyPr/>
                    <a:lstStyle/>
                    <a:p>
                      <a:r>
                        <a:rPr lang="en-US" sz="2000">
                          <a:latin typeface="DM Sans" pitchFamily="2" charset="77"/>
                        </a:rPr>
                        <a:t>Source of booking (Online, Corporate, etc.)</a:t>
                      </a:r>
                    </a:p>
                  </a:txBody>
                  <a:tcPr marL="41464" marR="41464" marT="20732" marB="20732" anchor="ctr">
                    <a:lnL>
                      <a:noFill/>
                    </a:lnL>
                    <a:lnR>
                      <a:noFill/>
                    </a:lnR>
                    <a:lnT>
                      <a:noFill/>
                    </a:lnT>
                    <a:lnB>
                      <a:noFill/>
                    </a:lnB>
                  </a:tcPr>
                </a:tc>
                <a:extLst>
                  <a:ext uri="{0D108BD9-81ED-4DB2-BD59-A6C34878D82A}">
                    <a16:rowId xmlns:a16="http://schemas.microsoft.com/office/drawing/2014/main" val="1967128728"/>
                  </a:ext>
                </a:extLst>
              </a:tr>
              <a:tr h="607881">
                <a:tc>
                  <a:txBody>
                    <a:bodyPr/>
                    <a:lstStyle/>
                    <a:p>
                      <a:r>
                        <a:rPr lang="en-GB" sz="2000">
                          <a:latin typeface="DM Sans" pitchFamily="2" charset="77"/>
                        </a:rPr>
                        <a:t>repeated_guest</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Whether the guest has stayed before (0/1)</a:t>
                      </a:r>
                    </a:p>
                  </a:txBody>
                  <a:tcPr marL="41464" marR="41464" marT="20732" marB="20732" anchor="ctr">
                    <a:lnL>
                      <a:noFill/>
                    </a:lnL>
                    <a:lnR>
                      <a:noFill/>
                    </a:lnR>
                    <a:lnT>
                      <a:noFill/>
                    </a:lnT>
                    <a:lnB>
                      <a:noFill/>
                    </a:lnB>
                  </a:tcPr>
                </a:tc>
                <a:extLst>
                  <a:ext uri="{0D108BD9-81ED-4DB2-BD59-A6C34878D82A}">
                    <a16:rowId xmlns:a16="http://schemas.microsoft.com/office/drawing/2014/main" val="440152521"/>
                  </a:ext>
                </a:extLst>
              </a:tr>
              <a:tr h="607881">
                <a:tc>
                  <a:txBody>
                    <a:bodyPr/>
                    <a:lstStyle/>
                    <a:p>
                      <a:r>
                        <a:rPr lang="en-GB" sz="2000">
                          <a:latin typeface="DM Sans" pitchFamily="2" charset="77"/>
                        </a:rPr>
                        <a:t>no_of_previous_cancellations</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Previous cancellations by the customer</a:t>
                      </a:r>
                    </a:p>
                  </a:txBody>
                  <a:tcPr marL="41464" marR="41464" marT="20732" marB="20732" anchor="ctr">
                    <a:lnL>
                      <a:noFill/>
                    </a:lnL>
                    <a:lnR>
                      <a:noFill/>
                    </a:lnR>
                    <a:lnT>
                      <a:noFill/>
                    </a:lnT>
                    <a:lnB>
                      <a:noFill/>
                    </a:lnB>
                  </a:tcPr>
                </a:tc>
                <a:extLst>
                  <a:ext uri="{0D108BD9-81ED-4DB2-BD59-A6C34878D82A}">
                    <a16:rowId xmlns:a16="http://schemas.microsoft.com/office/drawing/2014/main" val="626805697"/>
                  </a:ext>
                </a:extLst>
              </a:tr>
              <a:tr h="477353">
                <a:tc>
                  <a:txBody>
                    <a:bodyPr/>
                    <a:lstStyle/>
                    <a:p>
                      <a:r>
                        <a:rPr lang="en-US" sz="2000">
                          <a:latin typeface="DM Sans" pitchFamily="2" charset="77"/>
                        </a:rPr>
                        <a:t>no_of_previous_bookings_not_canceled</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GB" sz="2000" dirty="0">
                          <a:latin typeface="DM Sans" pitchFamily="2" charset="77"/>
                        </a:rPr>
                        <a:t>Previous successful bookings</a:t>
                      </a:r>
                    </a:p>
                  </a:txBody>
                  <a:tcPr marL="41464" marR="41464" marT="20732" marB="20732" anchor="ctr">
                    <a:lnL>
                      <a:noFill/>
                    </a:lnL>
                    <a:lnR>
                      <a:noFill/>
                    </a:lnR>
                    <a:lnT>
                      <a:noFill/>
                    </a:lnT>
                    <a:lnB>
                      <a:noFill/>
                    </a:lnB>
                  </a:tcPr>
                </a:tc>
                <a:extLst>
                  <a:ext uri="{0D108BD9-81ED-4DB2-BD59-A6C34878D82A}">
                    <a16:rowId xmlns:a16="http://schemas.microsoft.com/office/drawing/2014/main" val="3227862431"/>
                  </a:ext>
                </a:extLst>
              </a:tr>
              <a:tr h="477353">
                <a:tc>
                  <a:txBody>
                    <a:bodyPr/>
                    <a:lstStyle/>
                    <a:p>
                      <a:r>
                        <a:rPr lang="en-GB" sz="2000">
                          <a:latin typeface="DM Sans" pitchFamily="2" charset="77"/>
                        </a:rPr>
                        <a:t>avg_price_per_room</a:t>
                      </a:r>
                    </a:p>
                  </a:txBody>
                  <a:tcPr marL="41464" marR="41464" marT="20732" marB="20732" anchor="ctr">
                    <a:lnL>
                      <a:noFill/>
                    </a:lnL>
                    <a:lnR>
                      <a:noFill/>
                    </a:lnR>
                    <a:lnT>
                      <a:noFill/>
                    </a:lnT>
                    <a:lnB>
                      <a:noFill/>
                    </a:lnB>
                  </a:tcPr>
                </a:tc>
                <a:tc>
                  <a:txBody>
                    <a:bodyPr/>
                    <a:lstStyle/>
                    <a:p>
                      <a:r>
                        <a:rPr lang="en-GB" sz="2000">
                          <a:latin typeface="DM Sans" pitchFamily="2" charset="77"/>
                        </a:rPr>
                        <a:t>Float</a:t>
                      </a:r>
                    </a:p>
                  </a:txBody>
                  <a:tcPr marL="41464" marR="41464" marT="20732" marB="20732" anchor="ctr">
                    <a:lnL>
                      <a:noFill/>
                    </a:lnL>
                    <a:lnR>
                      <a:noFill/>
                    </a:lnR>
                    <a:lnT>
                      <a:noFill/>
                    </a:lnT>
                    <a:lnB>
                      <a:noFill/>
                    </a:lnB>
                  </a:tcPr>
                </a:tc>
                <a:tc>
                  <a:txBody>
                    <a:bodyPr/>
                    <a:lstStyle/>
                    <a:p>
                      <a:r>
                        <a:rPr lang="en-US" sz="2000">
                          <a:latin typeface="DM Sans" pitchFamily="2" charset="77"/>
                        </a:rPr>
                        <a:t>Average price per night per room</a:t>
                      </a:r>
                    </a:p>
                  </a:txBody>
                  <a:tcPr marL="41464" marR="41464" marT="20732" marB="20732" anchor="ctr">
                    <a:lnL>
                      <a:noFill/>
                    </a:lnL>
                    <a:lnR>
                      <a:noFill/>
                    </a:lnR>
                    <a:lnT>
                      <a:noFill/>
                    </a:lnT>
                    <a:lnB>
                      <a:noFill/>
                    </a:lnB>
                  </a:tcPr>
                </a:tc>
                <a:extLst>
                  <a:ext uri="{0D108BD9-81ED-4DB2-BD59-A6C34878D82A}">
                    <a16:rowId xmlns:a16="http://schemas.microsoft.com/office/drawing/2014/main" val="3111906142"/>
                  </a:ext>
                </a:extLst>
              </a:tr>
              <a:tr h="477353">
                <a:tc>
                  <a:txBody>
                    <a:bodyPr/>
                    <a:lstStyle/>
                    <a:p>
                      <a:r>
                        <a:rPr lang="en-GB" sz="2000">
                          <a:latin typeface="DM Sans" pitchFamily="2" charset="77"/>
                        </a:rPr>
                        <a:t>no_of_special_requests</a:t>
                      </a:r>
                    </a:p>
                  </a:txBody>
                  <a:tcPr marL="41464" marR="41464" marT="20732" marB="20732" anchor="ctr">
                    <a:lnL>
                      <a:noFill/>
                    </a:lnL>
                    <a:lnR>
                      <a:noFill/>
                    </a:lnR>
                    <a:lnT>
                      <a:noFill/>
                    </a:lnT>
                    <a:lnB>
                      <a:noFill/>
                    </a:lnB>
                  </a:tcPr>
                </a:tc>
                <a:tc>
                  <a:txBody>
                    <a:bodyPr/>
                    <a:lstStyle/>
                    <a:p>
                      <a:r>
                        <a:rPr lang="en-GB" sz="2000">
                          <a:latin typeface="DM Sans" pitchFamily="2" charset="77"/>
                        </a:rPr>
                        <a:t>Int</a:t>
                      </a:r>
                    </a:p>
                  </a:txBody>
                  <a:tcPr marL="41464" marR="41464" marT="20732" marB="20732" anchor="ctr">
                    <a:lnL>
                      <a:noFill/>
                    </a:lnL>
                    <a:lnR>
                      <a:noFill/>
                    </a:lnR>
                    <a:lnT>
                      <a:noFill/>
                    </a:lnT>
                    <a:lnB>
                      <a:noFill/>
                    </a:lnB>
                  </a:tcPr>
                </a:tc>
                <a:tc>
                  <a:txBody>
                    <a:bodyPr/>
                    <a:lstStyle/>
                    <a:p>
                      <a:r>
                        <a:rPr lang="en-US" sz="2000">
                          <a:latin typeface="DM Sans" pitchFamily="2" charset="77"/>
                        </a:rPr>
                        <a:t>Number of special requests made</a:t>
                      </a:r>
                    </a:p>
                  </a:txBody>
                  <a:tcPr marL="41464" marR="41464" marT="20732" marB="20732" anchor="ctr">
                    <a:lnL>
                      <a:noFill/>
                    </a:lnL>
                    <a:lnR>
                      <a:noFill/>
                    </a:lnR>
                    <a:lnT>
                      <a:noFill/>
                    </a:lnT>
                    <a:lnB>
                      <a:noFill/>
                    </a:lnB>
                  </a:tcPr>
                </a:tc>
                <a:extLst>
                  <a:ext uri="{0D108BD9-81ED-4DB2-BD59-A6C34878D82A}">
                    <a16:rowId xmlns:a16="http://schemas.microsoft.com/office/drawing/2014/main" val="2729989662"/>
                  </a:ext>
                </a:extLst>
              </a:tr>
              <a:tr h="607881">
                <a:tc>
                  <a:txBody>
                    <a:bodyPr/>
                    <a:lstStyle/>
                    <a:p>
                      <a:r>
                        <a:rPr lang="en-GB" sz="2000">
                          <a:latin typeface="DM Sans" pitchFamily="2" charset="77"/>
                        </a:rPr>
                        <a:t>booking_status</a:t>
                      </a:r>
                    </a:p>
                  </a:txBody>
                  <a:tcPr marL="41464" marR="41464" marT="20732" marB="20732" anchor="ctr">
                    <a:lnL>
                      <a:noFill/>
                    </a:lnL>
                    <a:lnR>
                      <a:noFill/>
                    </a:lnR>
                    <a:lnT>
                      <a:noFill/>
                    </a:lnT>
                    <a:lnB>
                      <a:noFill/>
                    </a:lnB>
                  </a:tcPr>
                </a:tc>
                <a:tc>
                  <a:txBody>
                    <a:bodyPr/>
                    <a:lstStyle/>
                    <a:p>
                      <a:r>
                        <a:rPr lang="en-GB" sz="2000">
                          <a:latin typeface="DM Sans" pitchFamily="2" charset="77"/>
                        </a:rPr>
                        <a:t>Categorical</a:t>
                      </a:r>
                    </a:p>
                  </a:txBody>
                  <a:tcPr marL="41464" marR="41464" marT="20732" marB="20732" anchor="ctr">
                    <a:lnL>
                      <a:noFill/>
                    </a:lnL>
                    <a:lnR>
                      <a:noFill/>
                    </a:lnR>
                    <a:lnT>
                      <a:noFill/>
                    </a:lnT>
                    <a:lnB>
                      <a:noFill/>
                    </a:lnB>
                  </a:tcPr>
                </a:tc>
                <a:tc>
                  <a:txBody>
                    <a:bodyPr/>
                    <a:lstStyle/>
                    <a:p>
                      <a:r>
                        <a:rPr lang="en-US" sz="2000" dirty="0">
                          <a:latin typeface="DM Sans" pitchFamily="2" charset="77"/>
                        </a:rPr>
                        <a:t>Target variable — “Canceled” or “</a:t>
                      </a:r>
                      <a:r>
                        <a:rPr lang="en-US" sz="2000" dirty="0" err="1">
                          <a:latin typeface="DM Sans" pitchFamily="2" charset="77"/>
                        </a:rPr>
                        <a:t>Not_Canceled</a:t>
                      </a:r>
                      <a:r>
                        <a:rPr lang="en-US" sz="2000" dirty="0">
                          <a:latin typeface="DM Sans" pitchFamily="2" charset="77"/>
                        </a:rPr>
                        <a:t>”</a:t>
                      </a:r>
                    </a:p>
                  </a:txBody>
                  <a:tcPr marL="41464" marR="41464" marT="20732" marB="20732" anchor="ctr">
                    <a:lnL>
                      <a:noFill/>
                    </a:lnL>
                    <a:lnR>
                      <a:noFill/>
                    </a:lnR>
                    <a:lnT>
                      <a:noFill/>
                    </a:lnT>
                    <a:lnB>
                      <a:noFill/>
                    </a:lnB>
                  </a:tcPr>
                </a:tc>
                <a:extLst>
                  <a:ext uri="{0D108BD9-81ED-4DB2-BD59-A6C34878D82A}">
                    <a16:rowId xmlns:a16="http://schemas.microsoft.com/office/drawing/2014/main" val="992707565"/>
                  </a:ext>
                </a:extLst>
              </a:tr>
            </a:tbl>
          </a:graphicData>
        </a:graphic>
      </p:graphicFrame>
      <p:sp>
        <p:nvSpPr>
          <p:cNvPr id="3" name="TextBox 14">
            <a:extLst>
              <a:ext uri="{FF2B5EF4-FFF2-40B4-BE49-F238E27FC236}">
                <a16:creationId xmlns:a16="http://schemas.microsoft.com/office/drawing/2014/main" id="{F4462DE1-3B0D-4797-96FD-7CA78C809AA5}"/>
              </a:ext>
            </a:extLst>
          </p:cNvPr>
          <p:cNvSpPr txBox="1"/>
          <p:nvPr/>
        </p:nvSpPr>
        <p:spPr>
          <a:xfrm rot="16200000">
            <a:off x="11487664" y="3084778"/>
            <a:ext cx="11290612" cy="1851148"/>
          </a:xfrm>
          <a:prstGeom prst="rect">
            <a:avLst/>
          </a:prstGeom>
        </p:spPr>
        <p:txBody>
          <a:bodyPr wrap="square" lIns="0" tIns="0" rIns="0" bIns="0" rtlCol="0" anchor="t">
            <a:spAutoFit/>
          </a:bodyPr>
          <a:lstStyle/>
          <a:p>
            <a:pPr marL="0" marR="0" lvl="0" indent="0" algn="just" defTabSz="914400" rtl="0" eaLnBrk="1" fontAlgn="auto" latinLnBrk="0" hangingPunct="1">
              <a:lnSpc>
                <a:spcPts val="14040"/>
              </a:lnSpc>
              <a:spcBef>
                <a:spcPct val="0"/>
              </a:spcBef>
              <a:spcAft>
                <a:spcPts val="0"/>
              </a:spcAft>
              <a:buClrTx/>
              <a:buSzTx/>
              <a:buFontTx/>
              <a:buNone/>
              <a:tabLst/>
              <a:defRPr/>
            </a:pPr>
            <a:r>
              <a:rPr lang="en-US" sz="15000" kern="1200" dirty="0">
                <a:solidFill>
                  <a:schemeClr val="accent5"/>
                </a:solidFill>
                <a:latin typeface="Anton"/>
                <a:ea typeface="Anton"/>
                <a:cs typeface="Anton"/>
                <a:sym typeface="Anton"/>
              </a:rPr>
              <a:t>DESCRIPTION</a:t>
            </a:r>
            <a:endParaRPr kumimoji="0" lang="en-US" sz="15000" b="0" i="0" u="none" strike="noStrike" kern="1200" cap="none" spc="0" normalizeH="0" baseline="0" noProof="0" dirty="0">
              <a:ln>
                <a:noFill/>
              </a:ln>
              <a:solidFill>
                <a:schemeClr val="accent5"/>
              </a:solidFill>
              <a:effectLst/>
              <a:uLnTx/>
              <a:uFillTx/>
              <a:latin typeface="Anton"/>
              <a:ea typeface="Anton"/>
              <a:cs typeface="Anton"/>
              <a:sym typeface="Anton"/>
            </a:endParaRPr>
          </a:p>
        </p:txBody>
      </p:sp>
    </p:spTree>
    <p:extLst>
      <p:ext uri="{BB962C8B-B14F-4D97-AF65-F5344CB8AC3E}">
        <p14:creationId xmlns:p14="http://schemas.microsoft.com/office/powerpoint/2010/main" val="29776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09"/>
        <p:cNvGrpSpPr/>
        <p:nvPr/>
      </p:nvGrpSpPr>
      <p:grpSpPr>
        <a:xfrm>
          <a:off x="0" y="0"/>
          <a:ext cx="0" cy="0"/>
          <a:chOff x="0" y="0"/>
          <a:chExt cx="0" cy="0"/>
        </a:xfrm>
      </p:grpSpPr>
      <p:sp>
        <p:nvSpPr>
          <p:cNvPr id="2" name="TextBox 14">
            <a:extLst>
              <a:ext uri="{FF2B5EF4-FFF2-40B4-BE49-F238E27FC236}">
                <a16:creationId xmlns:a16="http://schemas.microsoft.com/office/drawing/2014/main" id="{C63EEB46-2CDB-C632-831F-7B33BB4A0F09}"/>
              </a:ext>
            </a:extLst>
          </p:cNvPr>
          <p:cNvSpPr txBox="1"/>
          <p:nvPr/>
        </p:nvSpPr>
        <p:spPr>
          <a:xfrm rot="16200000">
            <a:off x="4424268" y="4028352"/>
            <a:ext cx="11290612" cy="1851148"/>
          </a:xfrm>
          <a:prstGeom prst="rect">
            <a:avLst/>
          </a:prstGeom>
        </p:spPr>
        <p:txBody>
          <a:bodyPr wrap="square" lIns="0" tIns="0" rIns="0" bIns="0" rtlCol="0" anchor="t">
            <a:spAutoFit/>
          </a:bodyPr>
          <a:lstStyle/>
          <a:p>
            <a:pPr marL="0" marR="0" lvl="0" indent="0" algn="just" defTabSz="914400" rtl="0" eaLnBrk="1" fontAlgn="auto" latinLnBrk="0" hangingPunct="1">
              <a:lnSpc>
                <a:spcPts val="14040"/>
              </a:lnSpc>
              <a:spcBef>
                <a:spcPct val="0"/>
              </a:spcBef>
              <a:spcAft>
                <a:spcPts val="0"/>
              </a:spcAft>
              <a:buClrTx/>
              <a:buSzTx/>
              <a:buFontTx/>
              <a:buNone/>
              <a:tabLst/>
              <a:defRPr/>
            </a:pPr>
            <a:r>
              <a:rPr lang="en-US" sz="15000" kern="1200" dirty="0">
                <a:solidFill>
                  <a:schemeClr val="accent5"/>
                </a:solidFill>
                <a:latin typeface="Anton"/>
                <a:ea typeface="Anton"/>
                <a:cs typeface="Anton"/>
                <a:sym typeface="Anton"/>
              </a:rPr>
              <a:t>VISUALIZATIONS</a:t>
            </a:r>
            <a:endParaRPr kumimoji="0" lang="en-US" sz="15000" b="0" i="0" u="none" strike="noStrike" kern="1200" cap="none" spc="0" normalizeH="0" baseline="0" noProof="0" dirty="0">
              <a:ln>
                <a:noFill/>
              </a:ln>
              <a:solidFill>
                <a:schemeClr val="accent5"/>
              </a:solidFill>
              <a:effectLst/>
              <a:uLnTx/>
              <a:uFillTx/>
              <a:latin typeface="Anton"/>
              <a:ea typeface="Anton"/>
              <a:cs typeface="Anton"/>
              <a:sym typeface="Anton"/>
            </a:endParaRPr>
          </a:p>
        </p:txBody>
      </p:sp>
      <p:pic>
        <p:nvPicPr>
          <p:cNvPr id="4" name="Picture 3" descr="A pie chart with a red circle and purple circle&#10;&#10;AI-generated content may be incorrect.">
            <a:extLst>
              <a:ext uri="{FF2B5EF4-FFF2-40B4-BE49-F238E27FC236}">
                <a16:creationId xmlns:a16="http://schemas.microsoft.com/office/drawing/2014/main" id="{2E79A8DD-037B-1D58-6A40-C468C7E003B2}"/>
              </a:ext>
            </a:extLst>
          </p:cNvPr>
          <p:cNvPicPr>
            <a:picLocks noChangeAspect="1"/>
          </p:cNvPicPr>
          <p:nvPr/>
        </p:nvPicPr>
        <p:blipFill>
          <a:blip r:embed="rId3"/>
          <a:stretch>
            <a:fillRect/>
          </a:stretch>
        </p:blipFill>
        <p:spPr>
          <a:xfrm>
            <a:off x="254011" y="1202886"/>
            <a:ext cx="8370277" cy="7881227"/>
          </a:xfrm>
          <a:prstGeom prst="rect">
            <a:avLst/>
          </a:prstGeom>
        </p:spPr>
      </p:pic>
      <p:sp>
        <p:nvSpPr>
          <p:cNvPr id="112" name="Google Shape;112;p15"/>
          <p:cNvSpPr txBox="1"/>
          <p:nvPr/>
        </p:nvSpPr>
        <p:spPr>
          <a:xfrm>
            <a:off x="11950121" y="4338372"/>
            <a:ext cx="5333829" cy="1231106"/>
          </a:xfrm>
          <a:prstGeom prst="rect">
            <a:avLst/>
          </a:prstGeom>
          <a:noFill/>
          <a:ln>
            <a:noFill/>
          </a:ln>
        </p:spPr>
        <p:txBody>
          <a:bodyPr spcFirstLastPara="1" wrap="square" lIns="0" tIns="0" rIns="0" bIns="0" anchor="t" anchorCtr="0">
            <a:spAutoFit/>
          </a:bodyPr>
          <a:lstStyle/>
          <a:p>
            <a:pPr lvl="1" algn="ctr">
              <a:buClr>
                <a:schemeClr val="bg1"/>
              </a:buClr>
              <a:buSzPts val="3600"/>
            </a:pPr>
            <a:r>
              <a:rPr lang="en-US" sz="4000" dirty="0">
                <a:solidFill>
                  <a:schemeClr val="bg1"/>
                </a:solidFill>
                <a:latin typeface="DM Sans" pitchFamily="2" charset="77"/>
                <a:ea typeface="Forum"/>
                <a:cs typeface="Forum"/>
                <a:sym typeface="Forum"/>
              </a:rPr>
              <a:t>Imbalanced</a:t>
            </a:r>
          </a:p>
          <a:p>
            <a:pPr lvl="1" algn="ctr">
              <a:buClr>
                <a:schemeClr val="bg1"/>
              </a:buClr>
              <a:buSzPts val="3600"/>
            </a:pPr>
            <a:r>
              <a:rPr lang="en-US" sz="4000" i="0" u="none" strike="noStrike" cap="none" dirty="0">
                <a:solidFill>
                  <a:schemeClr val="bg1"/>
                </a:solidFill>
                <a:latin typeface="DM Sans" pitchFamily="2" charset="77"/>
                <a:ea typeface="Forum"/>
                <a:cs typeface="Forum"/>
                <a:sym typeface="Forum"/>
              </a:rPr>
              <a:t>Dataset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09">
          <a:extLst>
            <a:ext uri="{FF2B5EF4-FFF2-40B4-BE49-F238E27FC236}">
              <a16:creationId xmlns:a16="http://schemas.microsoft.com/office/drawing/2014/main" id="{366F47CE-07B3-81A0-4F56-8D9F9572C424}"/>
            </a:ext>
          </a:extLst>
        </p:cNvPr>
        <p:cNvGrpSpPr/>
        <p:nvPr/>
      </p:nvGrpSpPr>
      <p:grpSpPr>
        <a:xfrm>
          <a:off x="0" y="0"/>
          <a:ext cx="0" cy="0"/>
          <a:chOff x="0" y="0"/>
          <a:chExt cx="0" cy="0"/>
        </a:xfrm>
      </p:grpSpPr>
      <p:sp>
        <p:nvSpPr>
          <p:cNvPr id="2" name="TextBox 14">
            <a:extLst>
              <a:ext uri="{FF2B5EF4-FFF2-40B4-BE49-F238E27FC236}">
                <a16:creationId xmlns:a16="http://schemas.microsoft.com/office/drawing/2014/main" id="{86AABBAB-6AA8-7A27-2222-C6D26E077A1A}"/>
              </a:ext>
            </a:extLst>
          </p:cNvPr>
          <p:cNvSpPr txBox="1"/>
          <p:nvPr/>
        </p:nvSpPr>
        <p:spPr>
          <a:xfrm rot="16200000">
            <a:off x="4424268" y="4028352"/>
            <a:ext cx="11290612" cy="1851148"/>
          </a:xfrm>
          <a:prstGeom prst="rect">
            <a:avLst/>
          </a:prstGeom>
        </p:spPr>
        <p:txBody>
          <a:bodyPr wrap="square" lIns="0" tIns="0" rIns="0" bIns="0" rtlCol="0" anchor="t">
            <a:spAutoFit/>
          </a:bodyPr>
          <a:lstStyle/>
          <a:p>
            <a:pPr marL="0" marR="0" lvl="0" indent="0" algn="just" defTabSz="914400" rtl="0" eaLnBrk="1" fontAlgn="auto" latinLnBrk="0" hangingPunct="1">
              <a:lnSpc>
                <a:spcPts val="14040"/>
              </a:lnSpc>
              <a:spcBef>
                <a:spcPct val="0"/>
              </a:spcBef>
              <a:spcAft>
                <a:spcPts val="0"/>
              </a:spcAft>
              <a:buClrTx/>
              <a:buSzTx/>
              <a:buFontTx/>
              <a:buNone/>
              <a:tabLst/>
              <a:defRPr/>
            </a:pPr>
            <a:r>
              <a:rPr kumimoji="0" lang="en-US" sz="15000" b="0" i="0" u="none" strike="noStrike" kern="1200" cap="none" spc="0" normalizeH="0" baseline="0" noProof="0" dirty="0">
                <a:ln>
                  <a:noFill/>
                </a:ln>
                <a:solidFill>
                  <a:srgbClr val="4BACC6"/>
                </a:solidFill>
                <a:effectLst/>
                <a:uLnTx/>
                <a:uFillTx/>
                <a:latin typeface="Anton"/>
                <a:ea typeface="Anton"/>
                <a:cs typeface="Anton"/>
                <a:sym typeface="Anton"/>
              </a:rPr>
              <a:t>VISUALIZATIONS</a:t>
            </a:r>
          </a:p>
        </p:txBody>
      </p:sp>
      <p:pic>
        <p:nvPicPr>
          <p:cNvPr id="5" name="Picture 4" descr="A screenshot of a graph&#10;&#10;AI-generated content may be incorrect.">
            <a:extLst>
              <a:ext uri="{FF2B5EF4-FFF2-40B4-BE49-F238E27FC236}">
                <a16:creationId xmlns:a16="http://schemas.microsoft.com/office/drawing/2014/main" id="{0F699BE9-74D5-D683-B6FC-3E61D4F7A30C}"/>
              </a:ext>
            </a:extLst>
          </p:cNvPr>
          <p:cNvPicPr>
            <a:picLocks noChangeAspect="1"/>
          </p:cNvPicPr>
          <p:nvPr/>
        </p:nvPicPr>
        <p:blipFill>
          <a:blip r:embed="rId3"/>
          <a:stretch>
            <a:fillRect/>
          </a:stretch>
        </p:blipFill>
        <p:spPr>
          <a:xfrm>
            <a:off x="1308850" y="-1"/>
            <a:ext cx="6412750" cy="10270977"/>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0D9915EA-0D2A-03FF-245E-E288C4303C80}"/>
              </a:ext>
            </a:extLst>
          </p:cNvPr>
          <p:cNvPicPr>
            <a:picLocks noChangeAspect="1"/>
          </p:cNvPicPr>
          <p:nvPr/>
        </p:nvPicPr>
        <p:blipFill>
          <a:blip r:embed="rId4"/>
          <a:stretch>
            <a:fillRect/>
          </a:stretch>
        </p:blipFill>
        <p:spPr>
          <a:xfrm>
            <a:off x="12637682" y="0"/>
            <a:ext cx="3770718" cy="10270976"/>
          </a:xfrm>
          <a:prstGeom prst="rect">
            <a:avLst/>
          </a:prstGeom>
        </p:spPr>
      </p:pic>
    </p:spTree>
    <p:extLst>
      <p:ext uri="{BB962C8B-B14F-4D97-AF65-F5344CB8AC3E}">
        <p14:creationId xmlns:p14="http://schemas.microsoft.com/office/powerpoint/2010/main" val="4155261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BFBE35-9EB2-D6C1-5DE8-6A00012A852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of heatmap of numeric features&#10;&#10;AI-generated content may be incorrect.">
            <a:extLst>
              <a:ext uri="{FF2B5EF4-FFF2-40B4-BE49-F238E27FC236}">
                <a16:creationId xmlns:a16="http://schemas.microsoft.com/office/drawing/2014/main" id="{9F2ADD5E-078C-8448-CC37-333E7A543DBA}"/>
              </a:ext>
            </a:extLst>
          </p:cNvPr>
          <p:cNvPicPr>
            <a:picLocks noChangeAspect="1"/>
          </p:cNvPicPr>
          <p:nvPr/>
        </p:nvPicPr>
        <p:blipFill>
          <a:blip r:embed="rId2">
            <a:alphaModFix amt="50000"/>
          </a:blip>
          <a:srcRect r="1" b="19910"/>
          <a:stretch>
            <a:fillRect/>
          </a:stretch>
        </p:blipFill>
        <p:spPr>
          <a:xfrm>
            <a:off x="0" y="10"/>
            <a:ext cx="18283405" cy="10286990"/>
          </a:xfrm>
          <a:prstGeom prst="rect">
            <a:avLst/>
          </a:prstGeom>
        </p:spPr>
      </p:pic>
      <p:sp>
        <p:nvSpPr>
          <p:cNvPr id="7" name="TextBox 6">
            <a:extLst>
              <a:ext uri="{FF2B5EF4-FFF2-40B4-BE49-F238E27FC236}">
                <a16:creationId xmlns:a16="http://schemas.microsoft.com/office/drawing/2014/main" id="{F0388BA8-BD26-998F-067C-E308EDFFEE01}"/>
              </a:ext>
            </a:extLst>
          </p:cNvPr>
          <p:cNvSpPr txBox="1"/>
          <p:nvPr/>
        </p:nvSpPr>
        <p:spPr>
          <a:xfrm>
            <a:off x="2286000" y="1683544"/>
            <a:ext cx="13716000" cy="4594860"/>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en-US" sz="15000" b="0" i="0" u="none" strike="noStrike" kern="1200" cap="none" spc="0" normalizeH="0" baseline="0" noProof="0">
                <a:ln>
                  <a:noFill/>
                </a:ln>
                <a:solidFill>
                  <a:schemeClr val="accent5"/>
                </a:solidFill>
                <a:effectLst/>
                <a:uLnTx/>
                <a:uFillTx/>
                <a:latin typeface="Anton" pitchFamily="2" charset="77"/>
                <a:ea typeface="+mj-ea"/>
                <a:cs typeface="+mj-cs"/>
                <a:sym typeface="Anton"/>
              </a:rPr>
              <a:t>CORRELAT</a:t>
            </a:r>
            <a:r>
              <a:rPr lang="en-US" sz="15000" kern="1200">
                <a:solidFill>
                  <a:schemeClr val="accent5"/>
                </a:solidFill>
                <a:latin typeface="Anton" pitchFamily="2" charset="77"/>
                <a:ea typeface="+mj-ea"/>
                <a:cs typeface="+mj-cs"/>
                <a:sym typeface="Anton"/>
              </a:rPr>
              <a:t>ION</a:t>
            </a:r>
            <a:endParaRPr kumimoji="0" lang="en-US" sz="15000" b="0" i="0" u="none" strike="noStrike" kern="1200" cap="none" spc="0" normalizeH="0" baseline="0" noProof="0" dirty="0">
              <a:ln>
                <a:noFill/>
              </a:ln>
              <a:solidFill>
                <a:schemeClr val="accent5"/>
              </a:solidFill>
              <a:effectLst/>
              <a:uLnTx/>
              <a:uFillTx/>
              <a:latin typeface="Anton" pitchFamily="2" charset="77"/>
              <a:ea typeface="+mj-ea"/>
              <a:cs typeface="+mj-cs"/>
              <a:sym typeface="Anton"/>
            </a:endParaRPr>
          </a:p>
        </p:txBody>
      </p:sp>
      <p:sp>
        <p:nvSpPr>
          <p:cNvPr id="14"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1309" y="6552934"/>
            <a:ext cx="6365383" cy="27432"/>
          </a:xfrm>
          <a:custGeom>
            <a:avLst/>
            <a:gdLst>
              <a:gd name="csX0" fmla="*/ 0 w 6365383"/>
              <a:gd name="csY0" fmla="*/ 0 h 27432"/>
              <a:gd name="csX1" fmla="*/ 636538 w 6365383"/>
              <a:gd name="csY1" fmla="*/ 0 h 27432"/>
              <a:gd name="csX2" fmla="*/ 1336730 w 6365383"/>
              <a:gd name="csY2" fmla="*/ 0 h 27432"/>
              <a:gd name="csX3" fmla="*/ 1909615 w 6365383"/>
              <a:gd name="csY3" fmla="*/ 0 h 27432"/>
              <a:gd name="csX4" fmla="*/ 2418846 w 6365383"/>
              <a:gd name="csY4" fmla="*/ 0 h 27432"/>
              <a:gd name="csX5" fmla="*/ 2928076 w 6365383"/>
              <a:gd name="csY5" fmla="*/ 0 h 27432"/>
              <a:gd name="csX6" fmla="*/ 3373653 w 6365383"/>
              <a:gd name="csY6" fmla="*/ 0 h 27432"/>
              <a:gd name="csX7" fmla="*/ 4137499 w 6365383"/>
              <a:gd name="csY7" fmla="*/ 0 h 27432"/>
              <a:gd name="csX8" fmla="*/ 4901345 w 6365383"/>
              <a:gd name="csY8" fmla="*/ 0 h 27432"/>
              <a:gd name="csX9" fmla="*/ 5665191 w 6365383"/>
              <a:gd name="csY9" fmla="*/ 0 h 27432"/>
              <a:gd name="csX10" fmla="*/ 6365383 w 6365383"/>
              <a:gd name="csY10" fmla="*/ 0 h 27432"/>
              <a:gd name="csX11" fmla="*/ 6365383 w 6365383"/>
              <a:gd name="csY11" fmla="*/ 27432 h 27432"/>
              <a:gd name="csX12" fmla="*/ 5728845 w 6365383"/>
              <a:gd name="csY12" fmla="*/ 27432 h 27432"/>
              <a:gd name="csX13" fmla="*/ 5028653 w 6365383"/>
              <a:gd name="csY13" fmla="*/ 27432 h 27432"/>
              <a:gd name="csX14" fmla="*/ 4583076 w 6365383"/>
              <a:gd name="csY14" fmla="*/ 27432 h 27432"/>
              <a:gd name="csX15" fmla="*/ 4137499 w 6365383"/>
              <a:gd name="csY15" fmla="*/ 27432 h 27432"/>
              <a:gd name="csX16" fmla="*/ 3691922 w 6365383"/>
              <a:gd name="csY16" fmla="*/ 27432 h 27432"/>
              <a:gd name="csX17" fmla="*/ 3182692 w 6365383"/>
              <a:gd name="csY17" fmla="*/ 27432 h 27432"/>
              <a:gd name="csX18" fmla="*/ 2673461 w 6365383"/>
              <a:gd name="csY18" fmla="*/ 27432 h 27432"/>
              <a:gd name="csX19" fmla="*/ 2164230 w 6365383"/>
              <a:gd name="csY19" fmla="*/ 27432 h 27432"/>
              <a:gd name="csX20" fmla="*/ 1655000 w 6365383"/>
              <a:gd name="csY20" fmla="*/ 27432 h 27432"/>
              <a:gd name="csX21" fmla="*/ 1145769 w 6365383"/>
              <a:gd name="csY21" fmla="*/ 27432 h 27432"/>
              <a:gd name="csX22" fmla="*/ 0 w 6365383"/>
              <a:gd name="csY22" fmla="*/ 27432 h 27432"/>
              <a:gd name="csX23" fmla="*/ 0 w 6365383"/>
              <a:gd name="csY23"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6365383" h="27432" fill="none" extrusionOk="0">
                <a:moveTo>
                  <a:pt x="0" y="0"/>
                </a:moveTo>
                <a:cubicBezTo>
                  <a:pt x="164014" y="-28800"/>
                  <a:pt x="392589" y="16597"/>
                  <a:pt x="636538" y="0"/>
                </a:cubicBezTo>
                <a:cubicBezTo>
                  <a:pt x="880487" y="-16597"/>
                  <a:pt x="1095224" y="-7871"/>
                  <a:pt x="1336730" y="0"/>
                </a:cubicBezTo>
                <a:cubicBezTo>
                  <a:pt x="1578236" y="7871"/>
                  <a:pt x="1649337" y="-22384"/>
                  <a:pt x="1909615" y="0"/>
                </a:cubicBezTo>
                <a:cubicBezTo>
                  <a:pt x="2169893" y="22384"/>
                  <a:pt x="2279697" y="7436"/>
                  <a:pt x="2418846" y="0"/>
                </a:cubicBezTo>
                <a:cubicBezTo>
                  <a:pt x="2557995" y="-7436"/>
                  <a:pt x="2719158" y="24395"/>
                  <a:pt x="2928076" y="0"/>
                </a:cubicBezTo>
                <a:cubicBezTo>
                  <a:pt x="3136994" y="-24395"/>
                  <a:pt x="3236398" y="-16046"/>
                  <a:pt x="3373653" y="0"/>
                </a:cubicBezTo>
                <a:cubicBezTo>
                  <a:pt x="3510908" y="16046"/>
                  <a:pt x="3933654" y="-18835"/>
                  <a:pt x="4137499" y="0"/>
                </a:cubicBezTo>
                <a:cubicBezTo>
                  <a:pt x="4341344" y="18835"/>
                  <a:pt x="4634949" y="16518"/>
                  <a:pt x="4901345" y="0"/>
                </a:cubicBezTo>
                <a:cubicBezTo>
                  <a:pt x="5167741" y="-16518"/>
                  <a:pt x="5482502" y="-23233"/>
                  <a:pt x="5665191" y="0"/>
                </a:cubicBezTo>
                <a:cubicBezTo>
                  <a:pt x="5847880" y="23233"/>
                  <a:pt x="6038909" y="-19558"/>
                  <a:pt x="6365383" y="0"/>
                </a:cubicBezTo>
                <a:cubicBezTo>
                  <a:pt x="6366317" y="12270"/>
                  <a:pt x="6364320" y="20068"/>
                  <a:pt x="6365383" y="27432"/>
                </a:cubicBezTo>
                <a:cubicBezTo>
                  <a:pt x="6160909" y="45028"/>
                  <a:pt x="5918554" y="42323"/>
                  <a:pt x="5728845" y="27432"/>
                </a:cubicBezTo>
                <a:cubicBezTo>
                  <a:pt x="5539136" y="12541"/>
                  <a:pt x="5172149" y="23835"/>
                  <a:pt x="5028653" y="27432"/>
                </a:cubicBezTo>
                <a:cubicBezTo>
                  <a:pt x="4885157" y="31029"/>
                  <a:pt x="4768966" y="33290"/>
                  <a:pt x="4583076" y="27432"/>
                </a:cubicBezTo>
                <a:cubicBezTo>
                  <a:pt x="4397186" y="21574"/>
                  <a:pt x="4295537" y="38724"/>
                  <a:pt x="4137499" y="27432"/>
                </a:cubicBezTo>
                <a:cubicBezTo>
                  <a:pt x="3979461" y="16140"/>
                  <a:pt x="3895902" y="23317"/>
                  <a:pt x="3691922" y="27432"/>
                </a:cubicBezTo>
                <a:cubicBezTo>
                  <a:pt x="3487942" y="31547"/>
                  <a:pt x="3348597" y="42606"/>
                  <a:pt x="3182692" y="27432"/>
                </a:cubicBezTo>
                <a:cubicBezTo>
                  <a:pt x="3016787" y="12259"/>
                  <a:pt x="2922425" y="45987"/>
                  <a:pt x="2673461" y="27432"/>
                </a:cubicBezTo>
                <a:cubicBezTo>
                  <a:pt x="2424497" y="8877"/>
                  <a:pt x="2406338" y="46461"/>
                  <a:pt x="2164230" y="27432"/>
                </a:cubicBezTo>
                <a:cubicBezTo>
                  <a:pt x="1922122" y="8403"/>
                  <a:pt x="1843534" y="2368"/>
                  <a:pt x="1655000" y="27432"/>
                </a:cubicBezTo>
                <a:cubicBezTo>
                  <a:pt x="1466466" y="52497"/>
                  <a:pt x="1384300" y="39658"/>
                  <a:pt x="1145769" y="27432"/>
                </a:cubicBezTo>
                <a:cubicBezTo>
                  <a:pt x="907238" y="15206"/>
                  <a:pt x="344177" y="36391"/>
                  <a:pt x="0" y="27432"/>
                </a:cubicBezTo>
                <a:cubicBezTo>
                  <a:pt x="-1194" y="21937"/>
                  <a:pt x="1202" y="7917"/>
                  <a:pt x="0" y="0"/>
                </a:cubicBezTo>
                <a:close/>
              </a:path>
              <a:path w="6365383" h="27432" stroke="0" extrusionOk="0">
                <a:moveTo>
                  <a:pt x="0" y="0"/>
                </a:moveTo>
                <a:cubicBezTo>
                  <a:pt x="152654" y="12967"/>
                  <a:pt x="297359" y="-4977"/>
                  <a:pt x="509231" y="0"/>
                </a:cubicBezTo>
                <a:cubicBezTo>
                  <a:pt x="721103" y="4977"/>
                  <a:pt x="792740" y="-12744"/>
                  <a:pt x="954807" y="0"/>
                </a:cubicBezTo>
                <a:cubicBezTo>
                  <a:pt x="1116874" y="12744"/>
                  <a:pt x="1322429" y="24743"/>
                  <a:pt x="1464038" y="0"/>
                </a:cubicBezTo>
                <a:cubicBezTo>
                  <a:pt x="1605647" y="-24743"/>
                  <a:pt x="1947393" y="-20672"/>
                  <a:pt x="2100576" y="0"/>
                </a:cubicBezTo>
                <a:cubicBezTo>
                  <a:pt x="2253759" y="20672"/>
                  <a:pt x="2622231" y="-30966"/>
                  <a:pt x="2800769" y="0"/>
                </a:cubicBezTo>
                <a:cubicBezTo>
                  <a:pt x="2979307" y="30966"/>
                  <a:pt x="3356872" y="-13631"/>
                  <a:pt x="3564614" y="0"/>
                </a:cubicBezTo>
                <a:cubicBezTo>
                  <a:pt x="3772356" y="13631"/>
                  <a:pt x="4163183" y="-4973"/>
                  <a:pt x="4328460" y="0"/>
                </a:cubicBezTo>
                <a:cubicBezTo>
                  <a:pt x="4493737" y="4973"/>
                  <a:pt x="4672761" y="-9287"/>
                  <a:pt x="4901345" y="0"/>
                </a:cubicBezTo>
                <a:cubicBezTo>
                  <a:pt x="5129930" y="9287"/>
                  <a:pt x="5395146" y="9436"/>
                  <a:pt x="5601537" y="0"/>
                </a:cubicBezTo>
                <a:cubicBezTo>
                  <a:pt x="5807928" y="-9436"/>
                  <a:pt x="5983747" y="-13862"/>
                  <a:pt x="6365383" y="0"/>
                </a:cubicBezTo>
                <a:cubicBezTo>
                  <a:pt x="6365699" y="13405"/>
                  <a:pt x="6365869" y="14360"/>
                  <a:pt x="6365383" y="27432"/>
                </a:cubicBezTo>
                <a:cubicBezTo>
                  <a:pt x="6195306" y="29393"/>
                  <a:pt x="5872535" y="56613"/>
                  <a:pt x="5728845" y="27432"/>
                </a:cubicBezTo>
                <a:cubicBezTo>
                  <a:pt x="5585155" y="-1749"/>
                  <a:pt x="5272464" y="11679"/>
                  <a:pt x="5028653" y="27432"/>
                </a:cubicBezTo>
                <a:cubicBezTo>
                  <a:pt x="4784842" y="43185"/>
                  <a:pt x="4688244" y="28658"/>
                  <a:pt x="4455768" y="27432"/>
                </a:cubicBezTo>
                <a:cubicBezTo>
                  <a:pt x="4223293" y="26206"/>
                  <a:pt x="4032880" y="15477"/>
                  <a:pt x="3882884" y="27432"/>
                </a:cubicBezTo>
                <a:cubicBezTo>
                  <a:pt x="3732888" y="39387"/>
                  <a:pt x="3278726" y="-7170"/>
                  <a:pt x="3119038" y="27432"/>
                </a:cubicBezTo>
                <a:cubicBezTo>
                  <a:pt x="2959350" y="62034"/>
                  <a:pt x="2786856" y="40315"/>
                  <a:pt x="2609807" y="27432"/>
                </a:cubicBezTo>
                <a:cubicBezTo>
                  <a:pt x="2432758" y="14549"/>
                  <a:pt x="2064373" y="16547"/>
                  <a:pt x="1909615" y="27432"/>
                </a:cubicBezTo>
                <a:cubicBezTo>
                  <a:pt x="1754857" y="38317"/>
                  <a:pt x="1663685" y="27374"/>
                  <a:pt x="1464038" y="27432"/>
                </a:cubicBezTo>
                <a:cubicBezTo>
                  <a:pt x="1264391" y="27490"/>
                  <a:pt x="1071013" y="1487"/>
                  <a:pt x="827500" y="27432"/>
                </a:cubicBezTo>
                <a:cubicBezTo>
                  <a:pt x="583987" y="53377"/>
                  <a:pt x="349818" y="3910"/>
                  <a:pt x="0" y="27432"/>
                </a:cubicBezTo>
                <a:cubicBezTo>
                  <a:pt x="-116" y="21844"/>
                  <a:pt x="591" y="6534"/>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14549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descr="A graph of heatmap of numeric features&#10;&#10;AI-generated content may be incorrect.">
            <a:extLst>
              <a:ext uri="{FF2B5EF4-FFF2-40B4-BE49-F238E27FC236}">
                <a16:creationId xmlns:a16="http://schemas.microsoft.com/office/drawing/2014/main" id="{7EE0A5A9-E514-05A6-435C-F82049C45924}"/>
              </a:ext>
            </a:extLst>
          </p:cNvPr>
          <p:cNvPicPr>
            <a:picLocks noChangeAspect="1"/>
          </p:cNvPicPr>
          <p:nvPr/>
        </p:nvPicPr>
        <p:blipFill>
          <a:blip r:embed="rId2"/>
          <a:stretch>
            <a:fillRect/>
          </a:stretch>
        </p:blipFill>
        <p:spPr>
          <a:xfrm>
            <a:off x="1807535" y="0"/>
            <a:ext cx="14696270" cy="10303363"/>
          </a:xfrm>
          <a:prstGeom prst="rect">
            <a:avLst/>
          </a:prstGeom>
        </p:spPr>
      </p:pic>
    </p:spTree>
    <p:extLst>
      <p:ext uri="{BB962C8B-B14F-4D97-AF65-F5344CB8AC3E}">
        <p14:creationId xmlns:p14="http://schemas.microsoft.com/office/powerpoint/2010/main" val="3315056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descr="A graph with different colored squares&#10;&#10;AI-generated content may be incorrect.">
            <a:extLst>
              <a:ext uri="{FF2B5EF4-FFF2-40B4-BE49-F238E27FC236}">
                <a16:creationId xmlns:a16="http://schemas.microsoft.com/office/drawing/2014/main" id="{04EA4126-EE74-0923-8657-30937ABB3E64}"/>
              </a:ext>
            </a:extLst>
          </p:cNvPr>
          <p:cNvPicPr>
            <a:picLocks noChangeAspect="1"/>
          </p:cNvPicPr>
          <p:nvPr/>
        </p:nvPicPr>
        <p:blipFill>
          <a:blip r:embed="rId2"/>
          <a:stretch>
            <a:fillRect/>
          </a:stretch>
        </p:blipFill>
        <p:spPr>
          <a:xfrm>
            <a:off x="3488712" y="787606"/>
            <a:ext cx="13865571" cy="8066127"/>
          </a:xfrm>
          <a:prstGeom prst="rect">
            <a:avLst/>
          </a:prstGeom>
        </p:spPr>
      </p:pic>
      <p:sp>
        <p:nvSpPr>
          <p:cNvPr id="7" name="TextBox 6">
            <a:extLst>
              <a:ext uri="{FF2B5EF4-FFF2-40B4-BE49-F238E27FC236}">
                <a16:creationId xmlns:a16="http://schemas.microsoft.com/office/drawing/2014/main" id="{DABA197C-6095-0D3F-8E83-F68134288443}"/>
              </a:ext>
            </a:extLst>
          </p:cNvPr>
          <p:cNvSpPr txBox="1"/>
          <p:nvPr/>
        </p:nvSpPr>
        <p:spPr>
          <a:xfrm>
            <a:off x="288313" y="8584792"/>
            <a:ext cx="7796411" cy="1323439"/>
          </a:xfrm>
          <a:prstGeom prst="rect">
            <a:avLst/>
          </a:prstGeom>
          <a:noFill/>
        </p:spPr>
        <p:txBody>
          <a:bodyPr wrap="square">
            <a:spAutoFit/>
          </a:bodyPr>
          <a:lstStyle/>
          <a:p>
            <a:pPr marL="0" marR="0" lvl="0" indent="0" algn="just" defTabSz="914400" rtl="0" eaLnBrk="1" fontAlgn="auto" latinLnBrk="0" hangingPunct="1">
              <a:spcBef>
                <a:spcPct val="0"/>
              </a:spcBef>
              <a:spcAft>
                <a:spcPts val="0"/>
              </a:spcAft>
              <a:buClrTx/>
              <a:buSzTx/>
              <a:buFontTx/>
              <a:buNone/>
              <a:tabLst/>
              <a:defRPr/>
            </a:pPr>
            <a:r>
              <a:rPr lang="en-US" sz="8000" kern="1200" dirty="0">
                <a:solidFill>
                  <a:schemeClr val="accent5"/>
                </a:solidFill>
                <a:latin typeface="Anton"/>
                <a:ea typeface="Anton"/>
                <a:cs typeface="Anton"/>
                <a:sym typeface="Anton"/>
              </a:rPr>
              <a:t>STRONG </a:t>
            </a:r>
            <a:r>
              <a:rPr kumimoji="0" lang="en-US" sz="8000" b="0" i="0" u="none" strike="noStrike" kern="1200" cap="none" spc="0" normalizeH="0" baseline="0" noProof="0" dirty="0">
                <a:ln>
                  <a:noFill/>
                </a:ln>
                <a:solidFill>
                  <a:schemeClr val="accent5"/>
                </a:solidFill>
                <a:effectLst/>
                <a:uLnTx/>
                <a:uFillTx/>
                <a:latin typeface="Anton"/>
                <a:ea typeface="Anton"/>
                <a:cs typeface="Anton"/>
                <a:sym typeface="Anton"/>
              </a:rPr>
              <a:t>PREDICTOR</a:t>
            </a:r>
            <a:r>
              <a:rPr lang="en-US" sz="8000" kern="1200" dirty="0">
                <a:solidFill>
                  <a:schemeClr val="accent5"/>
                </a:solidFill>
                <a:latin typeface="Anton"/>
                <a:ea typeface="Anton"/>
                <a:cs typeface="Anton"/>
                <a:sym typeface="Anton"/>
              </a:rPr>
              <a:t>S</a:t>
            </a:r>
            <a:endParaRPr kumimoji="0" lang="en-US" sz="8000" b="0" i="0" u="none" strike="noStrike" kern="1200" cap="none" spc="0" normalizeH="0" baseline="0" noProof="0" dirty="0">
              <a:ln>
                <a:noFill/>
              </a:ln>
              <a:solidFill>
                <a:schemeClr val="accent5"/>
              </a:solidFill>
              <a:effectLst/>
              <a:uLnTx/>
              <a:uFillTx/>
              <a:latin typeface="Anton"/>
              <a:ea typeface="Anton"/>
              <a:cs typeface="Anton"/>
              <a:sym typeface="Anton"/>
            </a:endParaRPr>
          </a:p>
        </p:txBody>
      </p:sp>
    </p:spTree>
    <p:extLst>
      <p:ext uri="{BB962C8B-B14F-4D97-AF65-F5344CB8AC3E}">
        <p14:creationId xmlns:p14="http://schemas.microsoft.com/office/powerpoint/2010/main" val="36064736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0" name="Freeform 3">
            <a:extLst>
              <a:ext uri="{FF2B5EF4-FFF2-40B4-BE49-F238E27FC236}">
                <a16:creationId xmlns:a16="http://schemas.microsoft.com/office/drawing/2014/main" id="{B97B378F-5AA5-906C-4993-454DBBAF3AB9}"/>
              </a:ext>
            </a:extLst>
          </p:cNvPr>
          <p:cNvSpPr/>
          <p:nvPr/>
        </p:nvSpPr>
        <p:spPr>
          <a:xfrm>
            <a:off x="7786802" y="2023621"/>
            <a:ext cx="10501198" cy="6239757"/>
          </a:xfrm>
          <a:custGeom>
            <a:avLst/>
            <a:gdLst/>
            <a:ahLst/>
            <a:cxnLst/>
            <a:rect l="l" t="t" r="r" b="b"/>
            <a:pathLst>
              <a:path w="3442562" h="1809508">
                <a:moveTo>
                  <a:pt x="0" y="0"/>
                </a:moveTo>
                <a:lnTo>
                  <a:pt x="3442562" y="0"/>
                </a:lnTo>
                <a:lnTo>
                  <a:pt x="3442562" y="1809508"/>
                </a:lnTo>
                <a:lnTo>
                  <a:pt x="0" y="1809508"/>
                </a:lnTo>
                <a:close/>
              </a:path>
            </a:pathLst>
          </a:custGeom>
          <a:solidFill>
            <a:srgbClr val="00000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p:cNvSpPr/>
          <p:nvPr/>
        </p:nvSpPr>
        <p:spPr>
          <a:xfrm>
            <a:off x="9719283" y="4563210"/>
            <a:ext cx="8762178" cy="0"/>
          </a:xfrm>
          <a:prstGeom prst="line">
            <a:avLst/>
          </a:prstGeom>
          <a:ln w="28575" cap="flat">
            <a:solidFill>
              <a:schemeClr val="bg1"/>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p:cNvGrpSpPr/>
          <p:nvPr/>
        </p:nvGrpSpPr>
        <p:grpSpPr>
          <a:xfrm>
            <a:off x="9523722" y="4358125"/>
            <a:ext cx="391122" cy="391122"/>
            <a:chOff x="0" y="0"/>
            <a:chExt cx="6350000" cy="6350000"/>
          </a:xfrm>
          <a:solidFill>
            <a:schemeClr val="accent5"/>
          </a:solidFill>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p:cNvGrpSpPr/>
          <p:nvPr/>
        </p:nvGrpSpPr>
        <p:grpSpPr>
          <a:xfrm>
            <a:off x="13877257" y="4358125"/>
            <a:ext cx="391122" cy="391122"/>
            <a:chOff x="0" y="0"/>
            <a:chExt cx="6350000" cy="6350000"/>
          </a:xfrm>
          <a:solidFill>
            <a:schemeClr val="accent5"/>
          </a:solidFill>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9"/>
          <p:cNvSpPr txBox="1"/>
          <p:nvPr/>
        </p:nvSpPr>
        <p:spPr>
          <a:xfrm>
            <a:off x="1028700" y="5716313"/>
            <a:ext cx="6453049" cy="1251753"/>
          </a:xfrm>
          <a:prstGeom prst="rect">
            <a:avLst/>
          </a:prstGeom>
        </p:spPr>
        <p:txBody>
          <a:bodyPr lIns="0" tIns="0" rIns="0" bIns="0" rtlCol="0" anchor="t">
            <a:spAutoFit/>
          </a:bodyPr>
          <a:lstStyle/>
          <a:p>
            <a:pPr lvl="0" algn="just">
              <a:lnSpc>
                <a:spcPts val="3299"/>
              </a:lnSpc>
              <a:buClrTx/>
              <a:defRPr/>
            </a:pPr>
            <a:r>
              <a:rPr lang="en-US" sz="2600" kern="1200" dirty="0">
                <a:solidFill>
                  <a:srgbClr val="303B2E"/>
                </a:solidFill>
                <a:latin typeface="Telegraf"/>
                <a:ea typeface="Telegraf"/>
                <a:cs typeface="Telegraf"/>
                <a:sym typeface="Telegraf"/>
              </a:rPr>
              <a:t>The dataset was split into training (75%) and testing (25%) sets using stratified sampling to maintain class balance.</a:t>
            </a:r>
            <a:endParaRPr kumimoji="0" lang="en-US" sz="2600" b="0" i="0" u="none" strike="noStrike" kern="1200" cap="none" spc="0" normalizeH="0" baseline="0" noProof="0" dirty="0">
              <a:ln>
                <a:noFill/>
              </a:ln>
              <a:solidFill>
                <a:srgbClr val="303B2E"/>
              </a:solidFill>
              <a:effectLst/>
              <a:uLnTx/>
              <a:uFillTx/>
              <a:latin typeface="Telegraf"/>
              <a:ea typeface="Telegraf"/>
              <a:cs typeface="Telegraf"/>
              <a:sym typeface="Telegraf"/>
            </a:endParaRPr>
          </a:p>
        </p:txBody>
      </p:sp>
      <p:sp>
        <p:nvSpPr>
          <p:cNvPr id="10" name="TextBox 10"/>
          <p:cNvSpPr txBox="1"/>
          <p:nvPr/>
        </p:nvSpPr>
        <p:spPr>
          <a:xfrm>
            <a:off x="9523722" y="3665538"/>
            <a:ext cx="3111962" cy="364074"/>
          </a:xfrm>
          <a:prstGeom prst="rect">
            <a:avLst/>
          </a:prstGeom>
        </p:spPr>
        <p:txBody>
          <a:bodyPr wrap="square"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Telegraf Bold"/>
                <a:ea typeface="Telegraf Bold"/>
                <a:cs typeface="Telegraf Bold"/>
                <a:sym typeface="Telegraf Bold"/>
              </a:rPr>
              <a:t>Data Pre-processing</a:t>
            </a:r>
          </a:p>
        </p:txBody>
      </p:sp>
      <p:sp>
        <p:nvSpPr>
          <p:cNvPr id="11" name="TextBox 11"/>
          <p:cNvSpPr txBox="1"/>
          <p:nvPr/>
        </p:nvSpPr>
        <p:spPr>
          <a:xfrm>
            <a:off x="13877256" y="3665538"/>
            <a:ext cx="3111961" cy="364074"/>
          </a:xfrm>
          <a:prstGeom prst="rect">
            <a:avLst/>
          </a:prstGeom>
        </p:spPr>
        <p:txBody>
          <a:bodyPr wrap="square"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Telegraf Bold"/>
                <a:ea typeface="Telegraf Bold"/>
                <a:cs typeface="Telegraf Bold"/>
                <a:sym typeface="Telegraf Bold"/>
              </a:rPr>
              <a:t>Feature Engineering</a:t>
            </a:r>
          </a:p>
        </p:txBody>
      </p:sp>
      <p:sp>
        <p:nvSpPr>
          <p:cNvPr id="13" name="TextBox 13"/>
          <p:cNvSpPr txBox="1"/>
          <p:nvPr/>
        </p:nvSpPr>
        <p:spPr>
          <a:xfrm>
            <a:off x="13877257" y="5179377"/>
            <a:ext cx="4088014" cy="1827423"/>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Numeric features scaled with </a:t>
            </a:r>
            <a:r>
              <a:rPr kumimoji="0" lang="en-US" sz="1800" b="1" i="0" u="none" strike="noStrike" kern="1200" cap="none" spc="0" normalizeH="0" baseline="0" noProof="0" dirty="0" err="1">
                <a:ln>
                  <a:noFill/>
                </a:ln>
                <a:solidFill>
                  <a:schemeClr val="accent5"/>
                </a:solidFill>
                <a:effectLst/>
                <a:uLnTx/>
                <a:uFillTx/>
                <a:latin typeface="Telegraf"/>
                <a:ea typeface="Telegraf"/>
                <a:cs typeface="Telegraf"/>
                <a:sym typeface="Telegraf"/>
              </a:rPr>
              <a:t>StandardScaler</a:t>
            </a:r>
            <a:endParaRPr kumimoji="0" lang="en-US" sz="1800" b="1" i="0" u="none" strike="noStrike" kern="1200" cap="none" spc="0" normalizeH="0" baseline="0" noProof="0" dirty="0">
              <a:ln>
                <a:noFill/>
              </a:ln>
              <a:solidFill>
                <a:schemeClr val="accent5"/>
              </a:solidFill>
              <a:effectLst/>
              <a:uLnTx/>
              <a:uFillTx/>
              <a:latin typeface="Telegraf"/>
              <a:ea typeface="Telegraf"/>
              <a:cs typeface="Telegraf"/>
              <a:sym typeface="Telegraf"/>
            </a:endParaRP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Categorical features encoded with </a:t>
            </a:r>
            <a:r>
              <a:rPr kumimoji="0" lang="en-US" sz="1800" b="1" i="0" u="none" strike="noStrike" kern="1200" cap="none" spc="0" normalizeH="0" baseline="0" noProof="0" dirty="0" err="1">
                <a:ln>
                  <a:noFill/>
                </a:ln>
                <a:solidFill>
                  <a:schemeClr val="accent5"/>
                </a:solidFill>
                <a:effectLst/>
                <a:uLnTx/>
                <a:uFillTx/>
                <a:latin typeface="Telegraf"/>
                <a:ea typeface="Telegraf"/>
                <a:cs typeface="Telegraf"/>
                <a:sym typeface="Telegraf"/>
              </a:rPr>
              <a:t>OneHotEncoder</a:t>
            </a:r>
            <a:endParaRPr kumimoji="0" lang="en-US" sz="1800" b="1" i="0" u="none" strike="noStrike" kern="1200" cap="none" spc="0" normalizeH="0" baseline="0" noProof="0" dirty="0">
              <a:ln>
                <a:noFill/>
              </a:ln>
              <a:solidFill>
                <a:schemeClr val="accent5"/>
              </a:solidFill>
              <a:effectLst/>
              <a:uLnTx/>
              <a:uFillTx/>
              <a:latin typeface="Telegraf"/>
              <a:ea typeface="Telegraf"/>
              <a:cs typeface="Telegraf"/>
              <a:sym typeface="Telegraf"/>
            </a:endParaRPr>
          </a:p>
          <a:p>
            <a:pPr marL="0" marR="0" lvl="0" indent="0" algn="l" defTabSz="914400" rtl="0" eaLnBrk="1" fontAlgn="auto" latinLnBrk="0" hangingPunct="1">
              <a:lnSpc>
                <a:spcPts val="288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endParaRPr>
          </a:p>
        </p:txBody>
      </p:sp>
      <p:sp>
        <p:nvSpPr>
          <p:cNvPr id="14" name="TextBox 14"/>
          <p:cNvSpPr txBox="1"/>
          <p:nvPr/>
        </p:nvSpPr>
        <p:spPr>
          <a:xfrm>
            <a:off x="1028700" y="3725959"/>
            <a:ext cx="7064030" cy="1855478"/>
          </a:xfrm>
          <a:prstGeom prst="rect">
            <a:avLst/>
          </a:prstGeom>
        </p:spPr>
        <p:txBody>
          <a:bodyPr lIns="0" tIns="0" rIns="0" bIns="0" rtlCol="0" anchor="t">
            <a:spAutoFit/>
          </a:bodyPr>
          <a:lstStyle/>
          <a:p>
            <a:pPr marL="0" marR="0" lvl="0" indent="0" algn="just" defTabSz="914400" rtl="0" eaLnBrk="1" fontAlgn="auto" latinLnBrk="0" hangingPunct="1">
              <a:lnSpc>
                <a:spcPts val="14040"/>
              </a:lnSpc>
              <a:spcBef>
                <a:spcPct val="0"/>
              </a:spcBef>
              <a:spcAft>
                <a:spcPts val="0"/>
              </a:spcAft>
              <a:buClrTx/>
              <a:buSzTx/>
              <a:buFontTx/>
              <a:buNone/>
              <a:tabLst/>
              <a:defRPr/>
            </a:pPr>
            <a:r>
              <a:rPr lang="en-US" sz="13500" kern="1200" dirty="0">
                <a:solidFill>
                  <a:schemeClr val="accent5"/>
                </a:solidFill>
                <a:latin typeface="Anton"/>
                <a:ea typeface="Anton"/>
                <a:cs typeface="Anton"/>
                <a:sym typeface="Anton"/>
              </a:rPr>
              <a:t>PIP</a:t>
            </a:r>
            <a:r>
              <a:rPr kumimoji="0" lang="en-US" sz="13500" b="0" i="0" u="none" strike="noStrike" kern="1200" cap="none" spc="0" normalizeH="0" baseline="0" noProof="0" dirty="0">
                <a:ln>
                  <a:noFill/>
                </a:ln>
                <a:solidFill>
                  <a:schemeClr val="accent5"/>
                </a:solidFill>
                <a:effectLst/>
                <a:uLnTx/>
                <a:uFillTx/>
                <a:latin typeface="Anton"/>
                <a:ea typeface="Anton"/>
                <a:cs typeface="Anton"/>
                <a:sym typeface="Anton"/>
              </a:rPr>
              <a:t>ELINE</a:t>
            </a:r>
          </a:p>
        </p:txBody>
      </p:sp>
      <p:sp>
        <p:nvSpPr>
          <p:cNvPr id="17" name="TextBox 13">
            <a:extLst>
              <a:ext uri="{FF2B5EF4-FFF2-40B4-BE49-F238E27FC236}">
                <a16:creationId xmlns:a16="http://schemas.microsoft.com/office/drawing/2014/main" id="{60E99732-62F2-2BF2-55F5-88829C10FC2D}"/>
              </a:ext>
            </a:extLst>
          </p:cNvPr>
          <p:cNvSpPr txBox="1"/>
          <p:nvPr/>
        </p:nvSpPr>
        <p:spPr>
          <a:xfrm>
            <a:off x="9523722" y="5195821"/>
            <a:ext cx="3923337" cy="108363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2880"/>
              </a:lnSpc>
              <a:spcBef>
                <a:spcPts val="0"/>
              </a:spcBef>
              <a:spcAft>
                <a:spcPts val="0"/>
              </a:spcAft>
              <a:buClr>
                <a:schemeClr val="bg1"/>
              </a:buClr>
              <a:buSzTx/>
              <a:buFont typeface="Arial" panose="020B0604020202020204" pitchFamily="34" charset="0"/>
              <a:buChar char="•"/>
              <a:tabLst/>
              <a:defRPr/>
            </a:pPr>
            <a:r>
              <a:rPr lang="en-US" sz="1800" kern="1200" dirty="0">
                <a:solidFill>
                  <a:schemeClr val="bg1"/>
                </a:solidFill>
                <a:latin typeface="Telegraf"/>
                <a:ea typeface="Telegraf"/>
                <a:cs typeface="Telegraf"/>
                <a:sym typeface="Telegraf"/>
              </a:rPr>
              <a:t>Drop </a:t>
            </a:r>
            <a:r>
              <a:rPr lang="en-US" sz="1800" kern="1200" dirty="0" err="1">
                <a:solidFill>
                  <a:schemeClr val="bg1"/>
                </a:solidFill>
                <a:latin typeface="Telegraf"/>
                <a:ea typeface="Telegraf"/>
                <a:cs typeface="Telegraf"/>
                <a:sym typeface="Telegraf"/>
              </a:rPr>
              <a:t>Booking_ID</a:t>
            </a:r>
            <a:endParaRPr lang="en-US" sz="1800" kern="1200" dirty="0">
              <a:solidFill>
                <a:schemeClr val="bg1"/>
              </a:solidFill>
              <a:latin typeface="Telegraf"/>
              <a:ea typeface="Telegraf"/>
              <a:cs typeface="Telegraf"/>
              <a:sym typeface="Telegraf"/>
            </a:endParaRPr>
          </a:p>
          <a:p>
            <a:pPr marL="285750" marR="0" lvl="0" indent="-285750" algn="l" defTabSz="914400" rtl="0" eaLnBrk="1" fontAlgn="auto" latinLnBrk="0" hangingPunct="1">
              <a:lnSpc>
                <a:spcPts val="2880"/>
              </a:lnSpc>
              <a:spcBef>
                <a:spcPts val="0"/>
              </a:spcBef>
              <a:spcAft>
                <a:spcPts val="0"/>
              </a:spcAft>
              <a:buClr>
                <a:schemeClr val="bg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Encode Target: Canceled = 1</a:t>
            </a:r>
            <a:endParaRPr lang="en-US" sz="1800" kern="1200" dirty="0">
              <a:solidFill>
                <a:schemeClr val="bg1"/>
              </a:solidFill>
              <a:latin typeface="Telegraf"/>
              <a:ea typeface="Telegraf"/>
              <a:cs typeface="Telegraf"/>
              <a:sym typeface="Telegraf"/>
            </a:endParaRPr>
          </a:p>
          <a:p>
            <a:pPr marL="0" marR="0" lvl="0" indent="0" algn="l" defTabSz="914400" rtl="0" eaLnBrk="1" fontAlgn="auto" latinLnBrk="0" hangingPunct="1">
              <a:lnSpc>
                <a:spcPts val="2880"/>
              </a:lnSpc>
              <a:spcBef>
                <a:spcPts val="0"/>
              </a:spcBef>
              <a:spcAft>
                <a:spcPts val="0"/>
              </a:spcAft>
              <a:buClr>
                <a:schemeClr val="bg1"/>
              </a:buClr>
              <a:buSzTx/>
              <a:buFontTx/>
              <a:buNone/>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	         Not Canceled = 0</a:t>
            </a:r>
          </a:p>
        </p:txBody>
      </p:sp>
      <p:sp>
        <p:nvSpPr>
          <p:cNvPr id="19" name="TextBox 18">
            <a:extLst>
              <a:ext uri="{FF2B5EF4-FFF2-40B4-BE49-F238E27FC236}">
                <a16:creationId xmlns:a16="http://schemas.microsoft.com/office/drawing/2014/main" id="{9545242F-CD46-E7CB-7564-FF66191257BF}"/>
              </a:ext>
            </a:extLst>
          </p:cNvPr>
          <p:cNvSpPr txBox="1"/>
          <p:nvPr/>
        </p:nvSpPr>
        <p:spPr>
          <a:xfrm>
            <a:off x="7602071" y="1004047"/>
            <a:ext cx="184731" cy="307777"/>
          </a:xfrm>
          <a:prstGeom prst="rect">
            <a:avLst/>
          </a:prstGeom>
          <a:noFill/>
        </p:spPr>
        <p:txBody>
          <a:bodyPr wrap="square" rtlCol="0">
            <a:spAutoFit/>
          </a:bodyPr>
          <a:lstStyle/>
          <a:p>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291190" y="2023621"/>
            <a:ext cx="10893077" cy="6239757"/>
            <a:chOff x="0" y="0"/>
            <a:chExt cx="3442562" cy="1809508"/>
          </a:xfrm>
        </p:grpSpPr>
        <p:sp>
          <p:nvSpPr>
            <p:cNvPr id="3" name="Freeform 3"/>
            <p:cNvSpPr/>
            <p:nvPr/>
          </p:nvSpPr>
          <p:spPr>
            <a:xfrm>
              <a:off x="0" y="0"/>
              <a:ext cx="3442562" cy="1809508"/>
            </a:xfrm>
            <a:custGeom>
              <a:avLst/>
              <a:gdLst/>
              <a:ahLst/>
              <a:cxnLst/>
              <a:rect l="l" t="t" r="r" b="b"/>
              <a:pathLst>
                <a:path w="3442562" h="1809508">
                  <a:moveTo>
                    <a:pt x="0" y="0"/>
                  </a:moveTo>
                  <a:lnTo>
                    <a:pt x="3442562" y="0"/>
                  </a:lnTo>
                  <a:lnTo>
                    <a:pt x="3442562" y="1809508"/>
                  </a:lnTo>
                  <a:lnTo>
                    <a:pt x="0" y="1809508"/>
                  </a:lnTo>
                  <a:close/>
                </a:path>
              </a:pathLst>
            </a:custGeom>
            <a:solidFill>
              <a:srgbClr val="00000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AutoShape 7"/>
          <p:cNvSpPr/>
          <p:nvPr/>
        </p:nvSpPr>
        <p:spPr>
          <a:xfrm>
            <a:off x="-82488" y="4514236"/>
            <a:ext cx="8762178" cy="0"/>
          </a:xfrm>
          <a:prstGeom prst="line">
            <a:avLst/>
          </a:prstGeom>
          <a:ln w="28575" cap="flat">
            <a:solidFill>
              <a:schemeClr val="bg1"/>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8" name="Group 8"/>
          <p:cNvGrpSpPr/>
          <p:nvPr/>
        </p:nvGrpSpPr>
        <p:grpSpPr>
          <a:xfrm>
            <a:off x="458984" y="4309151"/>
            <a:ext cx="391122" cy="391122"/>
            <a:chOff x="0" y="0"/>
            <a:chExt cx="6350000" cy="6350000"/>
          </a:xfrm>
          <a:solidFill>
            <a:schemeClr val="accent5"/>
          </a:solidFill>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p:cNvGrpSpPr/>
          <p:nvPr/>
        </p:nvGrpSpPr>
        <p:grpSpPr>
          <a:xfrm>
            <a:off x="5953573" y="4340264"/>
            <a:ext cx="391122" cy="391122"/>
            <a:chOff x="0" y="0"/>
            <a:chExt cx="6350000" cy="6350000"/>
          </a:xfrm>
          <a:solidFill>
            <a:schemeClr val="accent5"/>
          </a:solidFill>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TextBox 12"/>
          <p:cNvSpPr txBox="1"/>
          <p:nvPr/>
        </p:nvSpPr>
        <p:spPr>
          <a:xfrm>
            <a:off x="654545" y="3463213"/>
            <a:ext cx="2778556" cy="723147"/>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Telegraf Bold"/>
                <a:ea typeface="Telegraf Bold"/>
                <a:cs typeface="Telegraf Bold"/>
                <a:sym typeface="Telegraf Bold"/>
              </a:rPr>
              <a:t>Feature Selection</a:t>
            </a:r>
          </a:p>
          <a:p>
            <a:pPr marL="0" marR="0" lvl="0" indent="0" algn="l" defTabSz="914400" rtl="0" eaLnBrk="1" fontAlgn="auto" latinLnBrk="0" hangingPunct="1">
              <a:lnSpc>
                <a:spcPts val="2800"/>
              </a:lnSpc>
              <a:spcBef>
                <a:spcPts val="0"/>
              </a:spcBef>
              <a:spcAft>
                <a:spcPts val="0"/>
              </a:spcAft>
              <a:buClrTx/>
              <a:buSzTx/>
              <a:buFontTx/>
              <a:buNone/>
              <a:tabLst/>
              <a:defRPr/>
            </a:pPr>
            <a:r>
              <a:rPr lang="en-US" sz="2800" b="1" kern="1200" dirty="0">
                <a:solidFill>
                  <a:schemeClr val="bg1"/>
                </a:solidFill>
                <a:latin typeface="Telegraf Bold"/>
                <a:ea typeface="Telegraf Bold"/>
                <a:cs typeface="Telegraf Bold"/>
                <a:sym typeface="Telegraf Bold"/>
              </a:rPr>
              <a:t>(3 Tested)</a:t>
            </a:r>
            <a:endParaRPr kumimoji="0" lang="en-US" sz="2800" b="1" i="0" u="none" strike="noStrike" kern="1200" cap="none" spc="0" normalizeH="0" baseline="0" noProof="0" dirty="0">
              <a:ln>
                <a:noFill/>
              </a:ln>
              <a:solidFill>
                <a:schemeClr val="bg1"/>
              </a:solidFill>
              <a:effectLst/>
              <a:uLnTx/>
              <a:uFillTx/>
              <a:latin typeface="Telegraf Bold"/>
              <a:ea typeface="Telegraf Bold"/>
              <a:cs typeface="Telegraf Bold"/>
              <a:sym typeface="Telegraf Bold"/>
            </a:endParaRPr>
          </a:p>
        </p:txBody>
      </p:sp>
      <p:sp>
        <p:nvSpPr>
          <p:cNvPr id="13" name="TextBox 13"/>
          <p:cNvSpPr txBox="1"/>
          <p:nvPr/>
        </p:nvSpPr>
        <p:spPr>
          <a:xfrm>
            <a:off x="6149134" y="3463214"/>
            <a:ext cx="2778556" cy="723147"/>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Telegraf Bold"/>
                <a:ea typeface="Telegraf Bold"/>
                <a:cs typeface="Telegraf Bold"/>
                <a:sym typeface="Telegraf Bold"/>
              </a:rPr>
              <a:t>Model Evaluation </a:t>
            </a:r>
          </a:p>
          <a:p>
            <a:pPr marL="0" marR="0" lvl="0" indent="0" algn="l" defTabSz="914400" rtl="0" eaLnBrk="1" fontAlgn="auto" latinLnBrk="0" hangingPunct="1">
              <a:lnSpc>
                <a:spcPts val="2800"/>
              </a:lnSpc>
              <a:spcBef>
                <a:spcPts val="0"/>
              </a:spcBef>
              <a:spcAft>
                <a:spcPts val="0"/>
              </a:spcAft>
              <a:buClrTx/>
              <a:buSzTx/>
              <a:buFontTx/>
              <a:buNone/>
              <a:tabLst/>
              <a:defRPr/>
            </a:pPr>
            <a:r>
              <a:rPr lang="en-US" sz="2800" b="1" kern="1200" dirty="0">
                <a:solidFill>
                  <a:schemeClr val="bg1"/>
                </a:solidFill>
                <a:latin typeface="Telegraf Bold"/>
                <a:ea typeface="Telegraf Bold"/>
                <a:cs typeface="Telegraf Bold"/>
                <a:sym typeface="Telegraf Bold"/>
              </a:rPr>
              <a:t>(7 Classifiers)</a:t>
            </a:r>
            <a:endParaRPr kumimoji="0" lang="en-US" sz="2800" b="1" i="0" u="none" strike="noStrike" kern="1200" cap="none" spc="0" normalizeH="0" baseline="0" noProof="0" dirty="0">
              <a:ln>
                <a:noFill/>
              </a:ln>
              <a:solidFill>
                <a:schemeClr val="bg1"/>
              </a:solidFill>
              <a:effectLst/>
              <a:uLnTx/>
              <a:uFillTx/>
              <a:latin typeface="Telegraf Bold"/>
              <a:ea typeface="Telegraf Bold"/>
              <a:cs typeface="Telegraf Bold"/>
              <a:sym typeface="Telegraf Bold"/>
            </a:endParaRPr>
          </a:p>
        </p:txBody>
      </p:sp>
      <p:sp>
        <p:nvSpPr>
          <p:cNvPr id="15" name="TextBox 15"/>
          <p:cNvSpPr txBox="1"/>
          <p:nvPr/>
        </p:nvSpPr>
        <p:spPr>
          <a:xfrm>
            <a:off x="6149134" y="5122009"/>
            <a:ext cx="2958042" cy="2571217"/>
          </a:xfrm>
          <a:prstGeom prst="rect">
            <a:avLst/>
          </a:prstGeom>
        </p:spPr>
        <p:txBody>
          <a:bodyPr lIns="0" tIns="0" rIns="0" bIns="0" rtlCol="0" anchor="t">
            <a:spAutoFit/>
          </a:bodyPr>
          <a:lstStyle/>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Logistic Regression</a:t>
            </a:r>
            <a:endParaRPr lang="en-US" sz="1800" kern="1200" dirty="0">
              <a:solidFill>
                <a:schemeClr val="bg1"/>
              </a:solidFill>
              <a:latin typeface="Telegraf"/>
              <a:ea typeface="Telegraf"/>
              <a:cs typeface="Telegraf"/>
              <a:sym typeface="Telegraf"/>
            </a:endParaRP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Naïve Bayes</a:t>
            </a: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lang="en-US" sz="1800" kern="1200" dirty="0">
                <a:solidFill>
                  <a:schemeClr val="bg1"/>
                </a:solidFill>
                <a:latin typeface="Telegraf"/>
                <a:ea typeface="Telegraf"/>
                <a:cs typeface="Telegraf"/>
                <a:sym typeface="Telegraf"/>
              </a:rPr>
              <a:t>Decision Tree</a:t>
            </a: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Random Forest</a:t>
            </a: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lang="en-US" sz="1800" kern="1200" dirty="0">
                <a:solidFill>
                  <a:schemeClr val="bg1"/>
                </a:solidFill>
                <a:latin typeface="Telegraf"/>
                <a:ea typeface="Telegraf"/>
                <a:cs typeface="Telegraf"/>
                <a:sym typeface="Telegraf"/>
              </a:rPr>
              <a:t>SVM</a:t>
            </a: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Telegraf"/>
                <a:ea typeface="Telegraf"/>
                <a:cs typeface="Telegraf"/>
                <a:sym typeface="Telegraf"/>
              </a:rPr>
              <a:t>KNN ( </a:t>
            </a:r>
            <a:r>
              <a:rPr lang="en-US" sz="1800" kern="1200" dirty="0">
                <a:solidFill>
                  <a:schemeClr val="bg1"/>
                </a:solidFill>
                <a:latin typeface="Telegraf"/>
                <a:ea typeface="Telegraf"/>
                <a:cs typeface="Telegraf"/>
                <a:sym typeface="Telegraf"/>
              </a:rPr>
              <a:t>k=5)</a:t>
            </a:r>
          </a:p>
          <a:p>
            <a:pPr marL="285750" marR="0" lvl="0" indent="-285750" algn="l" defTabSz="914400" rtl="0" eaLnBrk="1" fontAlgn="auto" latinLnBrk="0" hangingPunct="1">
              <a:lnSpc>
                <a:spcPts val="2880"/>
              </a:lnSpc>
              <a:spcBef>
                <a:spcPts val="0"/>
              </a:spcBef>
              <a:spcAft>
                <a:spcPts val="0"/>
              </a:spcAft>
              <a:buClrTx/>
              <a:buSzTx/>
              <a:buFont typeface="Arial" panose="020B0604020202020204" pitchFamily="34" charset="0"/>
              <a:buChar char="•"/>
              <a:tabLst/>
              <a:defRPr/>
            </a:pPr>
            <a:r>
              <a:rPr lang="en-US" sz="1800" kern="1200" dirty="0" err="1">
                <a:solidFill>
                  <a:schemeClr val="bg1"/>
                </a:solidFill>
                <a:latin typeface="Telegraf"/>
                <a:ea typeface="Telegraf"/>
                <a:cs typeface="Telegraf"/>
                <a:sym typeface="Telegraf"/>
              </a:rPr>
              <a:t>XGBoost</a:t>
            </a:r>
            <a:endParaRPr lang="en-US" sz="1800" kern="1200" dirty="0">
              <a:solidFill>
                <a:schemeClr val="bg1"/>
              </a:solidFill>
              <a:latin typeface="Telegraf"/>
              <a:ea typeface="Telegraf"/>
              <a:cs typeface="Telegraf"/>
              <a:sym typeface="Telegraf"/>
            </a:endParaRPr>
          </a:p>
        </p:txBody>
      </p:sp>
      <p:graphicFrame>
        <p:nvGraphicFramePr>
          <p:cNvPr id="16" name="Table 15">
            <a:extLst>
              <a:ext uri="{FF2B5EF4-FFF2-40B4-BE49-F238E27FC236}">
                <a16:creationId xmlns:a16="http://schemas.microsoft.com/office/drawing/2014/main" id="{49A9ECA2-2333-7D81-67EB-BA072ABC2ACC}"/>
              </a:ext>
            </a:extLst>
          </p:cNvPr>
          <p:cNvGraphicFramePr>
            <a:graphicFrameLocks noGrp="1"/>
          </p:cNvGraphicFramePr>
          <p:nvPr>
            <p:extLst>
              <p:ext uri="{D42A27DB-BD31-4B8C-83A1-F6EECF244321}">
                <p14:modId xmlns:p14="http://schemas.microsoft.com/office/powerpoint/2010/main" val="718618432"/>
              </p:ext>
            </p:extLst>
          </p:nvPr>
        </p:nvGraphicFramePr>
        <p:xfrm>
          <a:off x="458984" y="5122009"/>
          <a:ext cx="5002764" cy="1750372"/>
        </p:xfrm>
        <a:graphic>
          <a:graphicData uri="http://schemas.openxmlformats.org/drawingml/2006/table">
            <a:tbl>
              <a:tblPr firstRow="1" bandRow="1">
                <a:solidFill>
                  <a:schemeClr val="bg1"/>
                </a:solidFill>
                <a:tableStyleId>{2D5ABB26-0587-4C30-8999-92F81FD0307C}</a:tableStyleId>
              </a:tblPr>
              <a:tblGrid>
                <a:gridCol w="1667588">
                  <a:extLst>
                    <a:ext uri="{9D8B030D-6E8A-4147-A177-3AD203B41FA5}">
                      <a16:colId xmlns:a16="http://schemas.microsoft.com/office/drawing/2014/main" val="616394957"/>
                    </a:ext>
                  </a:extLst>
                </a:gridCol>
                <a:gridCol w="1667588">
                  <a:extLst>
                    <a:ext uri="{9D8B030D-6E8A-4147-A177-3AD203B41FA5}">
                      <a16:colId xmlns:a16="http://schemas.microsoft.com/office/drawing/2014/main" val="854376139"/>
                    </a:ext>
                  </a:extLst>
                </a:gridCol>
                <a:gridCol w="1667588">
                  <a:extLst>
                    <a:ext uri="{9D8B030D-6E8A-4147-A177-3AD203B41FA5}">
                      <a16:colId xmlns:a16="http://schemas.microsoft.com/office/drawing/2014/main" val="1273346461"/>
                    </a:ext>
                  </a:extLst>
                </a:gridCol>
              </a:tblGrid>
              <a:tr h="437593">
                <a:tc>
                  <a:txBody>
                    <a:bodyPr/>
                    <a:lstStyle/>
                    <a:p>
                      <a:r>
                        <a:rPr lang="en-US" sz="1600" dirty="0">
                          <a:solidFill>
                            <a:schemeClr val="bg1"/>
                          </a:solidFill>
                          <a:latin typeface="DM Sans" pitchFamily="2" charset="77"/>
                        </a:rPr>
                        <a:t>Method</a:t>
                      </a:r>
                    </a:p>
                  </a:txBody>
                  <a:tcPr>
                    <a:lnR w="12700" cap="flat" cmpd="sng" algn="ctr">
                      <a:solidFill>
                        <a:schemeClr val="tx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solidFill>
                  </a:tcPr>
                </a:tc>
                <a:tc>
                  <a:txBody>
                    <a:bodyPr/>
                    <a:lstStyle/>
                    <a:p>
                      <a:r>
                        <a:rPr lang="en-US" sz="1600" dirty="0">
                          <a:solidFill>
                            <a:schemeClr val="bg1"/>
                          </a:solidFill>
                          <a:latin typeface="DM Sans" pitchFamily="2" charset="77"/>
                        </a:rPr>
                        <a:t>Base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solidFill>
                  </a:tcPr>
                </a:tc>
                <a:tc>
                  <a:txBody>
                    <a:bodyPr/>
                    <a:lstStyle/>
                    <a:p>
                      <a:r>
                        <a:rPr lang="en-US" sz="1600" dirty="0">
                          <a:solidFill>
                            <a:schemeClr val="bg1"/>
                          </a:solidFill>
                          <a:latin typeface="DM Sans" pitchFamily="2" charset="77"/>
                        </a:rPr>
                        <a:t># Features</a:t>
                      </a:r>
                    </a:p>
                  </a:txBody>
                  <a:tcPr>
                    <a:lnL w="12700" cap="flat" cmpd="sng" algn="ctr">
                      <a:solidFill>
                        <a:schemeClr val="tx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399112347"/>
                  </a:ext>
                </a:extLst>
              </a:tr>
              <a:tr h="437593">
                <a:tc>
                  <a:txBody>
                    <a:bodyPr/>
                    <a:lstStyle/>
                    <a:p>
                      <a:r>
                        <a:rPr lang="en-US" sz="1600" dirty="0">
                          <a:solidFill>
                            <a:schemeClr val="bg1"/>
                          </a:solidFill>
                          <a:latin typeface="DM Sans" pitchFamily="2" charset="77"/>
                        </a:rPr>
                        <a:t>Tree-based</a:t>
                      </a:r>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600" dirty="0">
                          <a:solidFill>
                            <a:schemeClr val="bg1"/>
                          </a:solidFill>
                          <a:latin typeface="DM Sans" pitchFamily="2" charset="77"/>
                        </a:rPr>
                        <a:t>Random Forest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600" dirty="0">
                          <a:solidFill>
                            <a:schemeClr val="bg1"/>
                          </a:solidFill>
                          <a:latin typeface="DM Sans" pitchFamily="2" charset="77"/>
                        </a:rPr>
                        <a:t>Variable</a:t>
                      </a:r>
                    </a:p>
                  </a:txBody>
                  <a:tcP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782856965"/>
                  </a:ext>
                </a:extLst>
              </a:tr>
              <a:tr h="437593">
                <a:tc>
                  <a:txBody>
                    <a:bodyPr/>
                    <a:lstStyle/>
                    <a:p>
                      <a:r>
                        <a:rPr lang="en-US" sz="1600" dirty="0" err="1">
                          <a:solidFill>
                            <a:schemeClr val="bg1"/>
                          </a:solidFill>
                          <a:latin typeface="DM Sans" pitchFamily="2" charset="77"/>
                        </a:rPr>
                        <a:t>SelectKBest</a:t>
                      </a:r>
                      <a:endParaRPr lang="en-US" sz="1600" dirty="0">
                        <a:solidFill>
                          <a:schemeClr val="bg1"/>
                        </a:solidFill>
                        <a:latin typeface="DM Sans" pitchFamily="2" charset="77"/>
                      </a:endParaRPr>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600" dirty="0">
                          <a:solidFill>
                            <a:schemeClr val="bg1"/>
                          </a:solidFill>
                          <a:latin typeface="DM Sans" pitchFamily="2" charset="77"/>
                        </a:rPr>
                        <a:t>Mutual Info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600" dirty="0">
                          <a:solidFill>
                            <a:schemeClr val="bg1"/>
                          </a:solidFill>
                          <a:latin typeface="DM Sans" pitchFamily="2" charset="77"/>
                        </a:rPr>
                        <a:t>10</a:t>
                      </a:r>
                    </a:p>
                  </a:txBody>
                  <a:tcP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497229043"/>
                  </a:ext>
                </a:extLst>
              </a:tr>
              <a:tr h="437593">
                <a:tc>
                  <a:txBody>
                    <a:bodyPr/>
                    <a:lstStyle/>
                    <a:p>
                      <a:r>
                        <a:rPr lang="en-US" sz="1600" dirty="0">
                          <a:solidFill>
                            <a:schemeClr val="bg1"/>
                          </a:solidFill>
                          <a:latin typeface="DM Sans" pitchFamily="2" charset="77"/>
                        </a:rPr>
                        <a:t>L1 (Lasso)</a:t>
                      </a:r>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1"/>
                    </a:solidFill>
                  </a:tcPr>
                </a:tc>
                <a:tc>
                  <a:txBody>
                    <a:bodyPr/>
                    <a:lstStyle/>
                    <a:p>
                      <a:r>
                        <a:rPr lang="en-US" sz="1600" dirty="0" err="1">
                          <a:solidFill>
                            <a:schemeClr val="bg1"/>
                          </a:solidFill>
                          <a:latin typeface="DM Sans" pitchFamily="2" charset="77"/>
                        </a:rPr>
                        <a:t>Logictic</a:t>
                      </a:r>
                      <a:r>
                        <a:rPr lang="en-US" sz="1600" dirty="0">
                          <a:solidFill>
                            <a:schemeClr val="bg1"/>
                          </a:solidFill>
                          <a:latin typeface="DM Sans" pitchFamily="2" charset="77"/>
                        </a:rPr>
                        <a:t> Reg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1"/>
                    </a:solidFill>
                  </a:tcPr>
                </a:tc>
                <a:tc>
                  <a:txBody>
                    <a:bodyPr/>
                    <a:lstStyle/>
                    <a:p>
                      <a:r>
                        <a:rPr lang="en-US" sz="1600" dirty="0">
                          <a:solidFill>
                            <a:schemeClr val="bg1"/>
                          </a:solidFill>
                          <a:latin typeface="DM Sans" pitchFamily="2" charset="77"/>
                        </a:rPr>
                        <a:t>Variable</a:t>
                      </a:r>
                    </a:p>
                  </a:txBody>
                  <a:tcP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tx1"/>
                    </a:solidFill>
                  </a:tcPr>
                </a:tc>
                <a:extLst>
                  <a:ext uri="{0D108BD9-81ED-4DB2-BD59-A6C34878D82A}">
                    <a16:rowId xmlns:a16="http://schemas.microsoft.com/office/drawing/2014/main" val="2198339981"/>
                  </a:ext>
                </a:extLst>
              </a:tr>
            </a:tbl>
          </a:graphicData>
        </a:graphic>
      </p:graphicFrame>
      <p:sp>
        <p:nvSpPr>
          <p:cNvPr id="20" name="TextBox 14">
            <a:extLst>
              <a:ext uri="{FF2B5EF4-FFF2-40B4-BE49-F238E27FC236}">
                <a16:creationId xmlns:a16="http://schemas.microsoft.com/office/drawing/2014/main" id="{2C14FE3B-12F5-FE80-6196-A6380E76A69B}"/>
              </a:ext>
            </a:extLst>
          </p:cNvPr>
          <p:cNvSpPr txBox="1"/>
          <p:nvPr/>
        </p:nvSpPr>
        <p:spPr>
          <a:xfrm>
            <a:off x="10810589" y="6799614"/>
            <a:ext cx="7857728" cy="1716624"/>
          </a:xfrm>
          <a:prstGeom prst="rect">
            <a:avLst/>
          </a:prstGeom>
        </p:spPr>
        <p:txBody>
          <a:bodyPr wrap="square" lIns="0" tIns="0" rIns="0" bIns="0" rtlCol="0" anchor="t">
            <a:spAutoFit/>
          </a:bodyPr>
          <a:lstStyle/>
          <a:p>
            <a:pPr marL="0" marR="0" lvl="0" indent="0" algn="just" defTabSz="914400" rtl="0" eaLnBrk="1" fontAlgn="auto" latinLnBrk="0" hangingPunct="1">
              <a:lnSpc>
                <a:spcPts val="14040"/>
              </a:lnSpc>
              <a:spcBef>
                <a:spcPct val="0"/>
              </a:spcBef>
              <a:spcAft>
                <a:spcPts val="0"/>
              </a:spcAft>
              <a:buClrTx/>
              <a:buSzTx/>
              <a:buFontTx/>
              <a:buNone/>
              <a:tabLst/>
              <a:defRPr/>
            </a:pPr>
            <a:r>
              <a:rPr lang="en-US" sz="11000" kern="1200" dirty="0">
                <a:ln>
                  <a:solidFill>
                    <a:schemeClr val="tx1"/>
                  </a:solidFill>
                </a:ln>
                <a:solidFill>
                  <a:schemeClr val="accent5"/>
                </a:solidFill>
                <a:latin typeface="Anton"/>
                <a:ea typeface="Anton"/>
                <a:cs typeface="Anton"/>
                <a:sym typeface="Anton"/>
              </a:rPr>
              <a:t>21</a:t>
            </a:r>
            <a:r>
              <a:rPr lang="en-US" sz="6000" kern="1200" dirty="0">
                <a:solidFill>
                  <a:schemeClr val="accent5"/>
                </a:solidFill>
                <a:latin typeface="Anton"/>
                <a:ea typeface="Anton"/>
                <a:cs typeface="Anton"/>
                <a:sym typeface="Anton"/>
              </a:rPr>
              <a:t>combinations</a:t>
            </a:r>
          </a:p>
        </p:txBody>
      </p:sp>
      <p:pic>
        <p:nvPicPr>
          <p:cNvPr id="23" name="Picture 22" descr="A graph with a line and a number of neighbors&#10;&#10;AI-generated content may be incorrect.">
            <a:extLst>
              <a:ext uri="{FF2B5EF4-FFF2-40B4-BE49-F238E27FC236}">
                <a16:creationId xmlns:a16="http://schemas.microsoft.com/office/drawing/2014/main" id="{B003B09B-BC8A-ECA3-D37C-DF8CAE9BC727}"/>
              </a:ext>
            </a:extLst>
          </p:cNvPr>
          <p:cNvPicPr>
            <a:picLocks noChangeAspect="1"/>
          </p:cNvPicPr>
          <p:nvPr/>
        </p:nvPicPr>
        <p:blipFill>
          <a:blip r:embed="rId2"/>
          <a:stretch>
            <a:fillRect/>
          </a:stretch>
        </p:blipFill>
        <p:spPr>
          <a:xfrm>
            <a:off x="10810589" y="2023621"/>
            <a:ext cx="7031913" cy="4526035"/>
          </a:xfrm>
          <a:prstGeom prst="rect">
            <a:avLst/>
          </a:prstGeom>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5BA91B-EC5F-57E1-C88E-411A2E5477AF}"/>
              </a:ext>
            </a:extLst>
          </p:cNvPr>
          <p:cNvSpPr txBox="1"/>
          <p:nvPr/>
        </p:nvSpPr>
        <p:spPr>
          <a:xfrm>
            <a:off x="13267194" y="1017248"/>
            <a:ext cx="4189228" cy="1569660"/>
          </a:xfrm>
          <a:prstGeom prst="rect">
            <a:avLst/>
          </a:prstGeom>
          <a:noFill/>
        </p:spPr>
        <p:txBody>
          <a:bodyPr wrap="square">
            <a:spAutoFit/>
          </a:bodyPr>
          <a:lstStyle/>
          <a:p>
            <a:r>
              <a:rPr lang="en-US" sz="9600" kern="1200" dirty="0">
                <a:solidFill>
                  <a:schemeClr val="accent5"/>
                </a:solidFill>
                <a:latin typeface="Anton"/>
                <a:ea typeface="Anton"/>
                <a:cs typeface="Anton"/>
                <a:sym typeface="Anton"/>
              </a:rPr>
              <a:t>RESULTS</a:t>
            </a:r>
            <a:endParaRPr lang="en-US" dirty="0"/>
          </a:p>
        </p:txBody>
      </p:sp>
      <p:sp>
        <p:nvSpPr>
          <p:cNvPr id="5" name="TextBox 9">
            <a:extLst>
              <a:ext uri="{FF2B5EF4-FFF2-40B4-BE49-F238E27FC236}">
                <a16:creationId xmlns:a16="http://schemas.microsoft.com/office/drawing/2014/main" id="{2FFD1DC7-004E-BE1F-9090-5F29DCDD86F7}"/>
              </a:ext>
            </a:extLst>
          </p:cNvPr>
          <p:cNvSpPr txBox="1"/>
          <p:nvPr/>
        </p:nvSpPr>
        <p:spPr>
          <a:xfrm>
            <a:off x="12643861" y="3965275"/>
            <a:ext cx="5580344" cy="3343223"/>
          </a:xfrm>
          <a:prstGeom prst="rect">
            <a:avLst/>
          </a:prstGeom>
        </p:spPr>
        <p:txBody>
          <a:bodyPr wrap="square" lIns="0" tIns="0" rIns="0" bIns="0" rtlCol="0" anchor="t">
            <a:spAutoFit/>
          </a:bodyPr>
          <a:lstStyle/>
          <a:p>
            <a:pPr>
              <a:lnSpc>
                <a:spcPct val="150000"/>
              </a:lnSpc>
              <a:buClrTx/>
              <a:defRPr/>
            </a:pPr>
            <a:r>
              <a:rPr lang="en-US" sz="2600" kern="1200" dirty="0">
                <a:solidFill>
                  <a:schemeClr val="bg1"/>
                </a:solidFill>
                <a:latin typeface="Telegraf"/>
                <a:ea typeface="Telegraf"/>
                <a:cs typeface="Telegraf"/>
                <a:sym typeface="Telegraf"/>
              </a:rPr>
              <a:t>The </a:t>
            </a:r>
            <a:r>
              <a:rPr lang="en-US" sz="4800" b="1" kern="1200" dirty="0">
                <a:solidFill>
                  <a:schemeClr val="bg1"/>
                </a:solidFill>
                <a:latin typeface="Telegraf"/>
                <a:ea typeface="Telegraf"/>
                <a:cs typeface="Telegraf"/>
                <a:sym typeface="Telegraf"/>
              </a:rPr>
              <a:t>Random Forest </a:t>
            </a:r>
            <a:r>
              <a:rPr lang="en-US" sz="2600" kern="1200" dirty="0">
                <a:solidFill>
                  <a:schemeClr val="bg1"/>
                </a:solidFill>
                <a:latin typeface="Telegraf"/>
                <a:ea typeface="Telegraf"/>
                <a:cs typeface="Telegraf"/>
                <a:sym typeface="Telegraf"/>
              </a:rPr>
              <a:t>with </a:t>
            </a:r>
            <a:r>
              <a:rPr lang="en-US" sz="4800" b="1" kern="1200" dirty="0">
                <a:solidFill>
                  <a:schemeClr val="bg1"/>
                </a:solidFill>
                <a:latin typeface="Telegraf"/>
                <a:ea typeface="Telegraf"/>
                <a:cs typeface="Telegraf"/>
                <a:sym typeface="Telegraf"/>
              </a:rPr>
              <a:t>L1 Regularization</a:t>
            </a:r>
            <a:r>
              <a:rPr lang="en-US" sz="4800" kern="1200" dirty="0">
                <a:solidFill>
                  <a:schemeClr val="bg1"/>
                </a:solidFill>
                <a:latin typeface="Telegraf"/>
                <a:ea typeface="Telegraf"/>
                <a:cs typeface="Telegraf"/>
                <a:sym typeface="Telegraf"/>
              </a:rPr>
              <a:t> </a:t>
            </a:r>
            <a:r>
              <a:rPr lang="en-US" sz="2600" kern="1200" dirty="0">
                <a:solidFill>
                  <a:schemeClr val="bg1"/>
                </a:solidFill>
                <a:latin typeface="Telegraf"/>
                <a:ea typeface="Telegraf"/>
                <a:cs typeface="Telegraf"/>
                <a:sym typeface="Telegraf"/>
              </a:rPr>
              <a:t>has highest accuracy </a:t>
            </a:r>
            <a:r>
              <a:rPr kumimoji="0" lang="en-US" sz="5000" b="1" i="0" u="none" strike="noStrike" kern="1200" cap="none" spc="0" normalizeH="0" baseline="0" noProof="0" dirty="0">
                <a:ln>
                  <a:noFill/>
                </a:ln>
                <a:solidFill>
                  <a:srgbClr val="4BACC6"/>
                </a:solidFill>
                <a:effectLst/>
                <a:uLnTx/>
                <a:uFillTx/>
                <a:latin typeface="Telegraf"/>
                <a:ea typeface="Telegraf"/>
                <a:cs typeface="Telegraf"/>
                <a:sym typeface="Telegraf"/>
              </a:rPr>
              <a:t>90.10% </a:t>
            </a:r>
            <a:endParaRPr lang="en-US" sz="2600" kern="1200" dirty="0">
              <a:solidFill>
                <a:schemeClr val="bg1"/>
              </a:solidFill>
              <a:latin typeface="Telegraf"/>
              <a:ea typeface="Telegraf"/>
              <a:cs typeface="Telegraf"/>
              <a:sym typeface="Telegraf"/>
            </a:endParaRPr>
          </a:p>
        </p:txBody>
      </p:sp>
      <p:pic>
        <p:nvPicPr>
          <p:cNvPr id="3" name="Picture 2" descr="A graph of different colored bars&#10;&#10;AI-generated content may be incorrect.">
            <a:extLst>
              <a:ext uri="{FF2B5EF4-FFF2-40B4-BE49-F238E27FC236}">
                <a16:creationId xmlns:a16="http://schemas.microsoft.com/office/drawing/2014/main" id="{A6BA4A8E-42AA-ED1E-ED86-347493B36F3F}"/>
              </a:ext>
            </a:extLst>
          </p:cNvPr>
          <p:cNvPicPr>
            <a:picLocks noChangeAspect="1"/>
          </p:cNvPicPr>
          <p:nvPr/>
        </p:nvPicPr>
        <p:blipFill>
          <a:blip r:embed="rId2"/>
          <a:stretch>
            <a:fillRect/>
          </a:stretch>
        </p:blipFill>
        <p:spPr>
          <a:xfrm>
            <a:off x="0" y="0"/>
            <a:ext cx="12344400" cy="10287000"/>
          </a:xfrm>
          <a:prstGeom prst="rect">
            <a:avLst/>
          </a:prstGeom>
        </p:spPr>
      </p:pic>
    </p:spTree>
    <p:extLst>
      <p:ext uri="{BB962C8B-B14F-4D97-AF65-F5344CB8AC3E}">
        <p14:creationId xmlns:p14="http://schemas.microsoft.com/office/powerpoint/2010/main" val="2535372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1"/>
        <p:cNvGrpSpPr/>
        <p:nvPr/>
      </p:nvGrpSpPr>
      <p:grpSpPr>
        <a:xfrm>
          <a:off x="0" y="0"/>
          <a:ext cx="0" cy="0"/>
          <a:chOff x="0" y="0"/>
          <a:chExt cx="0" cy="0"/>
        </a:xfrm>
      </p:grpSpPr>
      <p:grpSp>
        <p:nvGrpSpPr>
          <p:cNvPr id="268" name="Google Shape;268;p26"/>
          <p:cNvGrpSpPr/>
          <p:nvPr/>
        </p:nvGrpSpPr>
        <p:grpSpPr>
          <a:xfrm>
            <a:off x="-527617" y="-211336"/>
            <a:ext cx="3016212" cy="10498336"/>
            <a:chOff x="0" y="-38100"/>
            <a:chExt cx="1003448" cy="2764994"/>
          </a:xfrm>
          <a:solidFill>
            <a:schemeClr val="bg1">
              <a:lumMod val="95000"/>
            </a:schemeClr>
          </a:solidFill>
        </p:grpSpPr>
        <p:sp>
          <p:nvSpPr>
            <p:cNvPr id="269" name="Google Shape;269;p26"/>
            <p:cNvSpPr/>
            <p:nvPr/>
          </p:nvSpPr>
          <p:spPr>
            <a:xfrm>
              <a:off x="0" y="0"/>
              <a:ext cx="1003448" cy="2726894"/>
            </a:xfrm>
            <a:custGeom>
              <a:avLst/>
              <a:gdLst/>
              <a:ahLst/>
              <a:cxnLst/>
              <a:rect l="l" t="t" r="r" b="b"/>
              <a:pathLst>
                <a:path w="1003448" h="2726894" extrusionOk="0">
                  <a:moveTo>
                    <a:pt x="0" y="0"/>
                  </a:moveTo>
                  <a:lnTo>
                    <a:pt x="1003448" y="0"/>
                  </a:lnTo>
                  <a:lnTo>
                    <a:pt x="1003448" y="2726894"/>
                  </a:lnTo>
                  <a:lnTo>
                    <a:pt x="0" y="2726894"/>
                  </a:lnTo>
                  <a:close/>
                </a:path>
              </a:pathLst>
            </a:custGeom>
            <a:grpFill/>
            <a:ln>
              <a:solidFill>
                <a:schemeClr val="bg1">
                  <a:lumMod val="95000"/>
                </a:schemeClr>
              </a:solidFill>
            </a:ln>
          </p:spPr>
          <p:txBody>
            <a:bodyPr/>
            <a:lstStyle/>
            <a:p>
              <a:endParaRPr lang="en-US"/>
            </a:p>
          </p:txBody>
        </p:sp>
        <p:sp>
          <p:nvSpPr>
            <p:cNvPr id="270" name="Google Shape;270;p26"/>
            <p:cNvSpPr txBox="1"/>
            <p:nvPr/>
          </p:nvSpPr>
          <p:spPr>
            <a:xfrm>
              <a:off x="0" y="-38100"/>
              <a:ext cx="1003448" cy="2764994"/>
            </a:xfrm>
            <a:prstGeom prst="rect">
              <a:avLst/>
            </a:prstGeom>
            <a:grpFill/>
            <a:ln>
              <a:solidFill>
                <a:schemeClr val="bg1">
                  <a:lumMod val="95000"/>
                </a:schemeClr>
              </a:solidFill>
            </a:ln>
          </p:spPr>
          <p:txBody>
            <a:bodyPr spcFirstLastPara="1" wrap="square" lIns="50800" tIns="50800" rIns="50800" bIns="50800" anchor="ctr" anchorCtr="0">
              <a:noAutofit/>
            </a:bodyPr>
            <a:lstStyle/>
            <a:p>
              <a:pPr marL="0" marR="0" lvl="0" indent="0" algn="ctr" rtl="0">
                <a:lnSpc>
                  <a:spcPct val="124388"/>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04094CA1-ED77-FEDD-2BEA-D84215765546}"/>
              </a:ext>
            </a:extLst>
          </p:cNvPr>
          <p:cNvSpPr txBox="1"/>
          <p:nvPr/>
        </p:nvSpPr>
        <p:spPr>
          <a:xfrm rot="16200000">
            <a:off x="-3312041" y="3164449"/>
            <a:ext cx="11929725" cy="3016210"/>
          </a:xfrm>
          <a:prstGeom prst="rect">
            <a:avLst/>
          </a:prstGeom>
          <a:noFill/>
        </p:spPr>
        <p:txBody>
          <a:bodyPr wrap="square">
            <a:spAutoFit/>
          </a:bodyPr>
          <a:lstStyle/>
          <a:p>
            <a:r>
              <a:rPr lang="en-US" sz="19000" kern="1200" dirty="0">
                <a:solidFill>
                  <a:schemeClr val="accent5"/>
                </a:solidFill>
                <a:latin typeface="Anton"/>
                <a:ea typeface="Anton"/>
                <a:cs typeface="Anton"/>
                <a:sym typeface="Anton"/>
              </a:rPr>
              <a:t>BEST MODEL</a:t>
            </a:r>
            <a:endParaRPr lang="en-US" sz="19000" dirty="0"/>
          </a:p>
        </p:txBody>
      </p:sp>
      <p:sp>
        <p:nvSpPr>
          <p:cNvPr id="3" name="TextBox 2">
            <a:extLst>
              <a:ext uri="{FF2B5EF4-FFF2-40B4-BE49-F238E27FC236}">
                <a16:creationId xmlns:a16="http://schemas.microsoft.com/office/drawing/2014/main" id="{2420696B-A1EB-293B-4F04-F86781A946CB}"/>
              </a:ext>
            </a:extLst>
          </p:cNvPr>
          <p:cNvSpPr txBox="1"/>
          <p:nvPr/>
        </p:nvSpPr>
        <p:spPr>
          <a:xfrm>
            <a:off x="12489435" y="818324"/>
            <a:ext cx="6033470" cy="861774"/>
          </a:xfrm>
          <a:prstGeom prst="rect">
            <a:avLst/>
          </a:prstGeom>
          <a:noFill/>
        </p:spPr>
        <p:txBody>
          <a:bodyPr wrap="square">
            <a:spAutoFit/>
          </a:bodyPr>
          <a:lstStyle/>
          <a:p>
            <a:r>
              <a:rPr lang="en-US" sz="5000" kern="1200" dirty="0">
                <a:solidFill>
                  <a:schemeClr val="accent5"/>
                </a:solidFill>
                <a:latin typeface="Anton"/>
                <a:ea typeface="Anton"/>
                <a:cs typeface="Anton"/>
                <a:sym typeface="Anton"/>
              </a:rPr>
              <a:t>CLASSIFICATION REPORT</a:t>
            </a:r>
            <a:endParaRPr lang="en-US" sz="5000" dirty="0"/>
          </a:p>
        </p:txBody>
      </p:sp>
      <p:sp>
        <p:nvSpPr>
          <p:cNvPr id="4" name="Google Shape;1240;p44">
            <a:extLst>
              <a:ext uri="{FF2B5EF4-FFF2-40B4-BE49-F238E27FC236}">
                <a16:creationId xmlns:a16="http://schemas.microsoft.com/office/drawing/2014/main" id="{5A9EA574-4857-F3B3-5386-9D6C27603E6B}"/>
              </a:ext>
            </a:extLst>
          </p:cNvPr>
          <p:cNvSpPr/>
          <p:nvPr/>
        </p:nvSpPr>
        <p:spPr>
          <a:xfrm>
            <a:off x="5019694" y="4068721"/>
            <a:ext cx="12972772" cy="4038141"/>
          </a:xfrm>
          <a:prstGeom prst="roundRect">
            <a:avLst>
              <a:gd name="adj" fmla="val 16667"/>
            </a:avLst>
          </a:prstGeom>
          <a:noFill/>
          <a:ln w="19050"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sp>
        <p:nvSpPr>
          <p:cNvPr id="5" name="Google Shape;1241;p44">
            <a:extLst>
              <a:ext uri="{FF2B5EF4-FFF2-40B4-BE49-F238E27FC236}">
                <a16:creationId xmlns:a16="http://schemas.microsoft.com/office/drawing/2014/main" id="{B2C98921-C522-B4B0-3159-F91163FEB5EB}"/>
              </a:ext>
            </a:extLst>
          </p:cNvPr>
          <p:cNvSpPr/>
          <p:nvPr/>
        </p:nvSpPr>
        <p:spPr>
          <a:xfrm>
            <a:off x="5698527" y="4385644"/>
            <a:ext cx="11521262" cy="3326322"/>
          </a:xfrm>
          <a:prstGeom prst="roundRect">
            <a:avLst>
              <a:gd name="adj" fmla="val 16667"/>
            </a:avLst>
          </a:prstGeom>
          <a:noFill/>
          <a:ln w="9525"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graphicFrame>
        <p:nvGraphicFramePr>
          <p:cNvPr id="6" name="Google Shape;1243;p44">
            <a:extLst>
              <a:ext uri="{FF2B5EF4-FFF2-40B4-BE49-F238E27FC236}">
                <a16:creationId xmlns:a16="http://schemas.microsoft.com/office/drawing/2014/main" id="{A5A13166-D06D-91CC-C31A-7928D999BCB4}"/>
              </a:ext>
            </a:extLst>
          </p:cNvPr>
          <p:cNvGraphicFramePr/>
          <p:nvPr>
            <p:extLst>
              <p:ext uri="{D42A27DB-BD31-4B8C-83A1-F6EECF244321}">
                <p14:modId xmlns:p14="http://schemas.microsoft.com/office/powerpoint/2010/main" val="3436302871"/>
              </p:ext>
            </p:extLst>
          </p:nvPr>
        </p:nvGraphicFramePr>
        <p:xfrm>
          <a:off x="6409299" y="3381006"/>
          <a:ext cx="13489710" cy="4620576"/>
        </p:xfrm>
        <a:graphic>
          <a:graphicData uri="http://schemas.openxmlformats.org/drawingml/2006/table">
            <a:tbl>
              <a:tblPr>
                <a:noFill/>
              </a:tblPr>
              <a:tblGrid>
                <a:gridCol w="3542842">
                  <a:extLst>
                    <a:ext uri="{9D8B030D-6E8A-4147-A177-3AD203B41FA5}">
                      <a16:colId xmlns:a16="http://schemas.microsoft.com/office/drawing/2014/main" val="20000"/>
                    </a:ext>
                  </a:extLst>
                </a:gridCol>
                <a:gridCol w="2486717">
                  <a:extLst>
                    <a:ext uri="{9D8B030D-6E8A-4147-A177-3AD203B41FA5}">
                      <a16:colId xmlns:a16="http://schemas.microsoft.com/office/drawing/2014/main" val="20001"/>
                    </a:ext>
                  </a:extLst>
                </a:gridCol>
                <a:gridCol w="2486717">
                  <a:extLst>
                    <a:ext uri="{9D8B030D-6E8A-4147-A177-3AD203B41FA5}">
                      <a16:colId xmlns:a16="http://schemas.microsoft.com/office/drawing/2014/main" val="20002"/>
                    </a:ext>
                  </a:extLst>
                </a:gridCol>
                <a:gridCol w="2486717">
                  <a:extLst>
                    <a:ext uri="{9D8B030D-6E8A-4147-A177-3AD203B41FA5}">
                      <a16:colId xmlns:a16="http://schemas.microsoft.com/office/drawing/2014/main" val="20003"/>
                    </a:ext>
                  </a:extLst>
                </a:gridCol>
                <a:gridCol w="2486717">
                  <a:extLst>
                    <a:ext uri="{9D8B030D-6E8A-4147-A177-3AD203B41FA5}">
                      <a16:colId xmlns:a16="http://schemas.microsoft.com/office/drawing/2014/main" val="20004"/>
                    </a:ext>
                  </a:extLst>
                </a:gridCol>
              </a:tblGrid>
              <a:tr h="1155144">
                <a:tc>
                  <a:txBody>
                    <a:bodyPr/>
                    <a:lstStyle/>
                    <a:p>
                      <a:pPr marL="0" lvl="0" indent="0" algn="l" rtl="0">
                        <a:spcBef>
                          <a:spcPts val="0"/>
                        </a:spcBef>
                        <a:spcAft>
                          <a:spcPts val="0"/>
                        </a:spcAft>
                        <a:buNone/>
                      </a:pPr>
                      <a:endParaRPr sz="2300">
                        <a:latin typeface="DM Sans" pitchFamily="2" charset="77"/>
                      </a:endParaRPr>
                    </a:p>
                  </a:txBody>
                  <a:tcPr marL="182850" marR="182850" marT="182850" marB="182850">
                    <a:lnL w="9525" cap="flat" cmpd="sng">
                      <a:solidFill>
                        <a:srgbClr val="9E9E9E">
                          <a:alpha val="0"/>
                        </a:srgb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300" dirty="0">
                          <a:solidFill>
                            <a:schemeClr val="lt1"/>
                          </a:solidFill>
                          <a:latin typeface="DM Sans" pitchFamily="2" charset="77"/>
                          <a:ea typeface="Maven Pro"/>
                          <a:cs typeface="Maven Pro"/>
                          <a:sym typeface="Maven Pro"/>
                        </a:rPr>
                        <a:t>Precision</a:t>
                      </a:r>
                      <a:endParaRPr sz="2300" dirty="0">
                        <a:solidFill>
                          <a:schemeClr val="lt1"/>
                        </a:solidFill>
                        <a:latin typeface="DM Sans" pitchFamily="2" charset="77"/>
                        <a:ea typeface="Maven Pro"/>
                        <a:cs typeface="Maven Pro"/>
                        <a:sym typeface="Maven Pro"/>
                      </a:endParaRPr>
                    </a:p>
                  </a:txBody>
                  <a:tcPr marL="182850" marR="182850" marT="182850" marB="18285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chemeClr val="accent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CA" sz="2300" dirty="0">
                          <a:solidFill>
                            <a:schemeClr val="lt1"/>
                          </a:solidFill>
                          <a:latin typeface="DM Sans" pitchFamily="2" charset="77"/>
                          <a:ea typeface="Maven Pro"/>
                          <a:cs typeface="Maven Pro"/>
                          <a:sym typeface="Maven Pro"/>
                        </a:rPr>
                        <a:t>Recall</a:t>
                      </a:r>
                      <a:endParaRPr sz="2300" dirty="0">
                        <a:solidFill>
                          <a:schemeClr val="lt1"/>
                        </a:solidFill>
                        <a:latin typeface="DM Sans" pitchFamily="2" charset="77"/>
                        <a:ea typeface="Maven Pro"/>
                        <a:cs typeface="Maven Pro"/>
                        <a:sym typeface="Maven Pro"/>
                      </a:endParaRPr>
                    </a:p>
                  </a:txBody>
                  <a:tcPr marL="182850" marR="182850" marT="182850" marB="18285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chemeClr val="accent2">
                          <a:alpha val="0"/>
                        </a:schemeClr>
                      </a:solidFill>
                      <a:prstDash val="solid"/>
                      <a:round/>
                      <a:headEnd type="none" w="sm" len="sm"/>
                      <a:tailEnd type="none" w="sm" len="sm"/>
                    </a:lnB>
                  </a:tcPr>
                </a:tc>
                <a:tc gridSpan="2">
                  <a:txBody>
                    <a:bodyPr/>
                    <a:lstStyle/>
                    <a:p>
                      <a:pPr marL="0" lvl="0" indent="0" algn="l" rtl="0">
                        <a:spcBef>
                          <a:spcPts val="0"/>
                        </a:spcBef>
                        <a:spcAft>
                          <a:spcPts val="0"/>
                        </a:spcAft>
                        <a:buNone/>
                      </a:pPr>
                      <a:r>
                        <a:rPr lang="en" sz="2300" dirty="0">
                          <a:solidFill>
                            <a:schemeClr val="lt1"/>
                          </a:solidFill>
                          <a:latin typeface="DM Sans" pitchFamily="2" charset="77"/>
                          <a:ea typeface="Maven Pro"/>
                          <a:cs typeface="Maven Pro"/>
                          <a:sym typeface="Maven Pro"/>
                        </a:rPr>
                        <a:t>F1-score</a:t>
                      </a:r>
                      <a:endParaRPr sz="2300" dirty="0">
                        <a:solidFill>
                          <a:schemeClr val="lt1"/>
                        </a:solidFill>
                        <a:latin typeface="DM Sans" pitchFamily="2" charset="77"/>
                        <a:ea typeface="Maven Pro"/>
                        <a:cs typeface="Maven Pro"/>
                        <a:sym typeface="Maven Pro"/>
                      </a:endParaRPr>
                    </a:p>
                  </a:txBody>
                  <a:tcPr marL="182850" marR="182850" marT="182850" marB="18285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chemeClr val="accent2">
                          <a:alpha val="0"/>
                        </a:scheme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1155144">
                <a:tc>
                  <a:txBody>
                    <a:bodyPr/>
                    <a:lstStyle/>
                    <a:p>
                      <a:pPr marL="0" lvl="0" indent="0" algn="ctr" rtl="0">
                        <a:spcBef>
                          <a:spcPts val="0"/>
                        </a:spcBef>
                        <a:spcAft>
                          <a:spcPts val="0"/>
                        </a:spcAft>
                        <a:buNone/>
                      </a:pPr>
                      <a:r>
                        <a:rPr lang="en" sz="2300" b="1" dirty="0" err="1">
                          <a:solidFill>
                            <a:schemeClr val="accent5"/>
                          </a:solidFill>
                          <a:latin typeface="DM Sans" pitchFamily="2" charset="77"/>
                          <a:ea typeface="Share Tech"/>
                          <a:cs typeface="Share Tech"/>
                          <a:sym typeface="Share Tech"/>
                        </a:rPr>
                        <a:t>Not_Canceled</a:t>
                      </a:r>
                      <a:endParaRPr sz="2300" b="1" dirty="0">
                        <a:solidFill>
                          <a:schemeClr val="accent5"/>
                        </a:solidFill>
                        <a:latin typeface="DM Sans" pitchFamily="2" charset="77"/>
                        <a:ea typeface="Share Tech"/>
                        <a:cs typeface="Share Tech"/>
                        <a:sym typeface="Share Tech"/>
                      </a:endParaRPr>
                    </a:p>
                  </a:txBody>
                  <a:tcPr marL="182850" marR="182850" marT="182850" marB="182850"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300" dirty="0">
                          <a:solidFill>
                            <a:schemeClr val="lt1"/>
                          </a:solidFill>
                          <a:latin typeface="DM Sans" pitchFamily="2" charset="77"/>
                          <a:ea typeface="Maven Pro"/>
                          <a:cs typeface="Maven Pro"/>
                          <a:sym typeface="Maven Pro"/>
                        </a:rPr>
                        <a:t>0.91</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chemeClr val="accent1">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300" dirty="0">
                          <a:solidFill>
                            <a:schemeClr val="lt1"/>
                          </a:solidFill>
                          <a:latin typeface="DM Sans" pitchFamily="2" charset="77"/>
                          <a:ea typeface="Maven Pro"/>
                          <a:cs typeface="Maven Pro"/>
                          <a:sym typeface="Maven Pro"/>
                        </a:rPr>
                        <a:t>0.95</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lvl="0" indent="0" algn="l" rtl="0">
                        <a:spcBef>
                          <a:spcPts val="0"/>
                        </a:spcBef>
                        <a:spcAft>
                          <a:spcPts val="0"/>
                        </a:spcAft>
                        <a:buNone/>
                      </a:pPr>
                      <a:r>
                        <a:rPr lang="en" sz="2300" dirty="0">
                          <a:solidFill>
                            <a:schemeClr val="lt1"/>
                          </a:solidFill>
                          <a:latin typeface="DM Sans" pitchFamily="2" charset="77"/>
                          <a:ea typeface="Maven Pro"/>
                          <a:cs typeface="Maven Pro"/>
                          <a:sym typeface="Maven Pro"/>
                        </a:rPr>
                        <a:t>0.93</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1155144">
                <a:tc>
                  <a:txBody>
                    <a:bodyPr/>
                    <a:lstStyle/>
                    <a:p>
                      <a:pPr marL="0" lvl="0" indent="0" algn="ctr" rtl="0">
                        <a:spcBef>
                          <a:spcPts val="0"/>
                        </a:spcBef>
                        <a:spcAft>
                          <a:spcPts val="0"/>
                        </a:spcAft>
                        <a:buNone/>
                      </a:pPr>
                      <a:r>
                        <a:rPr lang="en" sz="2300" b="1" dirty="0">
                          <a:solidFill>
                            <a:schemeClr val="accent5"/>
                          </a:solidFill>
                          <a:latin typeface="DM Sans" pitchFamily="2" charset="77"/>
                          <a:ea typeface="Share Tech"/>
                          <a:cs typeface="Share Tech"/>
                          <a:sym typeface="Share Tech"/>
                        </a:rPr>
                        <a:t>Canceled</a:t>
                      </a:r>
                      <a:endParaRPr sz="2300" b="1" dirty="0">
                        <a:solidFill>
                          <a:schemeClr val="accent5"/>
                        </a:solidFill>
                        <a:latin typeface="DM Sans" pitchFamily="2" charset="77"/>
                        <a:ea typeface="Share Tech"/>
                        <a:cs typeface="Share Tech"/>
                        <a:sym typeface="Share Tech"/>
                      </a:endParaRPr>
                    </a:p>
                  </a:txBody>
                  <a:tcPr marL="182850" marR="182850" marT="182850" marB="182850"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300" dirty="0">
                          <a:solidFill>
                            <a:schemeClr val="lt1"/>
                          </a:solidFill>
                          <a:latin typeface="DM Sans" pitchFamily="2" charset="77"/>
                          <a:ea typeface="Maven Pro"/>
                          <a:cs typeface="Maven Pro"/>
                          <a:sym typeface="Maven Pro"/>
                        </a:rPr>
                        <a:t>0.88</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chemeClr val="accent1">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300" dirty="0">
                          <a:solidFill>
                            <a:schemeClr val="lt1"/>
                          </a:solidFill>
                          <a:latin typeface="DM Sans" pitchFamily="2" charset="77"/>
                          <a:ea typeface="Maven Pro"/>
                          <a:cs typeface="Maven Pro"/>
                          <a:sym typeface="Maven Pro"/>
                        </a:rPr>
                        <a:t>0.81</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lvl="0" indent="0" algn="l" rtl="0">
                        <a:spcBef>
                          <a:spcPts val="0"/>
                        </a:spcBef>
                        <a:spcAft>
                          <a:spcPts val="0"/>
                        </a:spcAft>
                        <a:buNone/>
                      </a:pPr>
                      <a:r>
                        <a:rPr lang="en" sz="2300" dirty="0">
                          <a:solidFill>
                            <a:schemeClr val="lt1"/>
                          </a:solidFill>
                          <a:latin typeface="DM Sans" pitchFamily="2" charset="77"/>
                          <a:ea typeface="Maven Pro"/>
                          <a:cs typeface="Maven Pro"/>
                          <a:sym typeface="Maven Pro"/>
                        </a:rPr>
                        <a:t>0.84</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r h="1155144">
                <a:tc>
                  <a:txBody>
                    <a:bodyPr/>
                    <a:lstStyle/>
                    <a:p>
                      <a:pPr marL="0" lvl="0" indent="0" algn="ctr" rtl="0">
                        <a:spcBef>
                          <a:spcPts val="0"/>
                        </a:spcBef>
                        <a:spcAft>
                          <a:spcPts val="0"/>
                        </a:spcAft>
                        <a:buNone/>
                      </a:pPr>
                      <a:r>
                        <a:rPr lang="en" sz="2300" b="1" dirty="0">
                          <a:solidFill>
                            <a:srgbClr val="92D050"/>
                          </a:solidFill>
                          <a:latin typeface="DM Sans" pitchFamily="2" charset="77"/>
                          <a:ea typeface="Share Tech"/>
                          <a:cs typeface="Share Tech"/>
                          <a:sym typeface="Share Tech"/>
                        </a:rPr>
                        <a:t>Accuracy</a:t>
                      </a:r>
                      <a:endParaRPr sz="2300" b="1" dirty="0">
                        <a:solidFill>
                          <a:srgbClr val="92D050"/>
                        </a:solidFill>
                        <a:latin typeface="DM Sans" pitchFamily="2" charset="77"/>
                        <a:ea typeface="Share Tech"/>
                        <a:cs typeface="Share Tech"/>
                        <a:sym typeface="Share Tech"/>
                      </a:endParaRPr>
                    </a:p>
                  </a:txBody>
                  <a:tcPr marL="182850" marR="182850" marT="182850" marB="182850"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chemeClr val="accent1">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lvl="0" indent="0" algn="l" rtl="0">
                        <a:spcBef>
                          <a:spcPts val="0"/>
                        </a:spcBef>
                        <a:spcAft>
                          <a:spcPts val="0"/>
                        </a:spcAft>
                        <a:buNone/>
                      </a:pPr>
                      <a:r>
                        <a:rPr lang="en" sz="2300" dirty="0">
                          <a:solidFill>
                            <a:schemeClr val="lt1"/>
                          </a:solidFill>
                          <a:latin typeface="DM Sans" pitchFamily="2" charset="77"/>
                          <a:ea typeface="Maven Pro"/>
                          <a:cs typeface="Maven Pro"/>
                          <a:sym typeface="Maven Pro"/>
                        </a:rPr>
                        <a:t>0.90</a:t>
                      </a:r>
                      <a:endParaRPr sz="2300" dirty="0">
                        <a:solidFill>
                          <a:schemeClr val="lt1"/>
                        </a:solidFill>
                        <a:latin typeface="DM Sans" pitchFamily="2" charset="77"/>
                        <a:ea typeface="Maven Pro"/>
                        <a:cs typeface="Maven Pro"/>
                        <a:sym typeface="Maven Pro"/>
                      </a:endParaRPr>
                    </a:p>
                  </a:txBody>
                  <a:tcPr marL="182850" marR="182850" marT="182850" marB="1828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3"/>
                  </a:ext>
                </a:extLst>
              </a:tr>
            </a:tbl>
          </a:graphicData>
        </a:graphic>
      </p:graphicFrame>
      <p:grpSp>
        <p:nvGrpSpPr>
          <p:cNvPr id="7" name="Google Shape;1244;p44">
            <a:extLst>
              <a:ext uri="{FF2B5EF4-FFF2-40B4-BE49-F238E27FC236}">
                <a16:creationId xmlns:a16="http://schemas.microsoft.com/office/drawing/2014/main" id="{04BA8ED6-BEFC-1EC7-34C5-5E40511AAB6D}"/>
              </a:ext>
            </a:extLst>
          </p:cNvPr>
          <p:cNvGrpSpPr/>
          <p:nvPr/>
        </p:nvGrpSpPr>
        <p:grpSpPr>
          <a:xfrm>
            <a:off x="12406865" y="8106862"/>
            <a:ext cx="1745431" cy="2571128"/>
            <a:chOff x="4882900" y="-64350"/>
            <a:chExt cx="2493750" cy="2922300"/>
          </a:xfrm>
        </p:grpSpPr>
        <p:sp>
          <p:nvSpPr>
            <p:cNvPr id="8" name="Google Shape;1245;p44">
              <a:extLst>
                <a:ext uri="{FF2B5EF4-FFF2-40B4-BE49-F238E27FC236}">
                  <a16:creationId xmlns:a16="http://schemas.microsoft.com/office/drawing/2014/main" id="{9F22E07B-7A6A-462B-99C2-1B0D952BC3EB}"/>
                </a:ext>
              </a:extLst>
            </p:cNvPr>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chemeClr val="accent3"/>
            </a:solidFill>
            <a:ln w="9525"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sp>
          <p:nvSpPr>
            <p:cNvPr id="9" name="Google Shape;1246;p44">
              <a:extLst>
                <a:ext uri="{FF2B5EF4-FFF2-40B4-BE49-F238E27FC236}">
                  <a16:creationId xmlns:a16="http://schemas.microsoft.com/office/drawing/2014/main" id="{31F09929-15B8-D55E-FDEB-405AAD1EB510}"/>
                </a:ext>
              </a:extLst>
            </p:cNvPr>
            <p:cNvSpPr/>
            <p:nvPr/>
          </p:nvSpPr>
          <p:spPr>
            <a:xfrm>
              <a:off x="4987800" y="-64350"/>
              <a:ext cx="1082975" cy="2914922"/>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chemeClr val="accent3"/>
            </a:solidFill>
            <a:ln w="9525"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sp>
          <p:nvSpPr>
            <p:cNvPr id="10" name="Google Shape;1247;p44">
              <a:extLst>
                <a:ext uri="{FF2B5EF4-FFF2-40B4-BE49-F238E27FC236}">
                  <a16:creationId xmlns:a16="http://schemas.microsoft.com/office/drawing/2014/main" id="{2B0EE7EB-BDEC-6883-50CA-5F56FCCD3793}"/>
                </a:ext>
              </a:extLst>
            </p:cNvPr>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chemeClr val="accent3"/>
            </a:solidFill>
            <a:ln w="9525"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sp>
          <p:nvSpPr>
            <p:cNvPr id="11" name="Google Shape;1248;p44">
              <a:extLst>
                <a:ext uri="{FF2B5EF4-FFF2-40B4-BE49-F238E27FC236}">
                  <a16:creationId xmlns:a16="http://schemas.microsoft.com/office/drawing/2014/main" id="{1EB9FD6A-8820-BAB5-5146-EB77EAE6491C}"/>
                </a:ext>
              </a:extLst>
            </p:cNvPr>
            <p:cNvSpPr/>
            <p:nvPr/>
          </p:nvSpPr>
          <p:spPr>
            <a:xfrm>
              <a:off x="5950575" y="939175"/>
              <a:ext cx="76075" cy="78250"/>
            </a:xfrm>
            <a:custGeom>
              <a:avLst/>
              <a:gdLst/>
              <a:ahLst/>
              <a:cxnLst/>
              <a:rect l="l" t="t" r="r" b="b"/>
              <a:pathLst>
                <a:path w="3043" h="3130" extrusionOk="0">
                  <a:moveTo>
                    <a:pt x="1" y="0"/>
                  </a:moveTo>
                  <a:lnTo>
                    <a:pt x="1" y="210"/>
                  </a:lnTo>
                  <a:lnTo>
                    <a:pt x="2833" y="210"/>
                  </a:lnTo>
                  <a:lnTo>
                    <a:pt x="2833" y="3130"/>
                  </a:lnTo>
                  <a:lnTo>
                    <a:pt x="3042" y="3130"/>
                  </a:lnTo>
                  <a:lnTo>
                    <a:pt x="3042" y="0"/>
                  </a:lnTo>
                  <a:close/>
                </a:path>
              </a:pathLst>
            </a:custGeom>
            <a:solidFill>
              <a:schemeClr val="accent3"/>
            </a:solidFill>
            <a:ln w="9525"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sp>
          <p:nvSpPr>
            <p:cNvPr id="12" name="Google Shape;1249;p44">
              <a:extLst>
                <a:ext uri="{FF2B5EF4-FFF2-40B4-BE49-F238E27FC236}">
                  <a16:creationId xmlns:a16="http://schemas.microsoft.com/office/drawing/2014/main" id="{09F3B12D-BF3D-DB79-A185-D58F8387630F}"/>
                </a:ext>
              </a:extLst>
            </p:cNvPr>
            <p:cNvSpPr/>
            <p:nvPr/>
          </p:nvSpPr>
          <p:spPr>
            <a:xfrm>
              <a:off x="5032375" y="744525"/>
              <a:ext cx="77800" cy="78250"/>
            </a:xfrm>
            <a:custGeom>
              <a:avLst/>
              <a:gdLst/>
              <a:ahLst/>
              <a:cxnLst/>
              <a:rect l="l" t="t" r="r" b="b"/>
              <a:pathLst>
                <a:path w="3112" h="3130" extrusionOk="0">
                  <a:moveTo>
                    <a:pt x="0" y="1"/>
                  </a:moveTo>
                  <a:lnTo>
                    <a:pt x="0" y="3130"/>
                  </a:lnTo>
                  <a:lnTo>
                    <a:pt x="3112" y="3130"/>
                  </a:lnTo>
                  <a:lnTo>
                    <a:pt x="3112" y="2920"/>
                  </a:lnTo>
                  <a:lnTo>
                    <a:pt x="193" y="2920"/>
                  </a:lnTo>
                  <a:lnTo>
                    <a:pt x="193" y="1"/>
                  </a:lnTo>
                  <a:close/>
                </a:path>
              </a:pathLst>
            </a:custGeom>
            <a:solidFill>
              <a:schemeClr val="accent3"/>
            </a:solidFill>
            <a:ln w="9525" cap="flat" cmpd="sng">
              <a:solidFill>
                <a:schemeClr val="bg1"/>
              </a:solidFill>
              <a:prstDash val="solid"/>
              <a:round/>
              <a:headEnd type="none" w="sm" len="sm"/>
              <a:tailEnd type="none" w="sm" len="sm"/>
            </a:ln>
          </p:spPr>
          <p:txBody>
            <a:bodyPr spcFirstLastPara="1" wrap="square" lIns="182850" tIns="182850" rIns="182850" bIns="182850" anchor="ctr" anchorCtr="0">
              <a:noAutofit/>
            </a:bodyPr>
            <a:lstStyle/>
            <a:p>
              <a:endParaRPr sz="2800"/>
            </a:p>
          </p:txBody>
        </p:sp>
      </p:grpSp>
      <p:cxnSp>
        <p:nvCxnSpPr>
          <p:cNvPr id="14" name="Straight Connector 13">
            <a:extLst>
              <a:ext uri="{FF2B5EF4-FFF2-40B4-BE49-F238E27FC236}">
                <a16:creationId xmlns:a16="http://schemas.microsoft.com/office/drawing/2014/main" id="{74095BFD-1A57-CFF5-2B03-9EAB1F163D61}"/>
              </a:ext>
            </a:extLst>
          </p:cNvPr>
          <p:cNvCxnSpPr>
            <a:cxnSpLocks/>
          </p:cNvCxnSpPr>
          <p:nvPr/>
        </p:nvCxnSpPr>
        <p:spPr>
          <a:xfrm>
            <a:off x="3462991" y="1249211"/>
            <a:ext cx="891630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TextBox 13">
            <a:extLst>
              <a:ext uri="{FF2B5EF4-FFF2-40B4-BE49-F238E27FC236}">
                <a16:creationId xmlns:a16="http://schemas.microsoft.com/office/drawing/2014/main" id="{C2F7E1C1-CDC3-3BFE-5A05-E6D9566490A0}"/>
              </a:ext>
            </a:extLst>
          </p:cNvPr>
          <p:cNvSpPr txBox="1"/>
          <p:nvPr/>
        </p:nvSpPr>
        <p:spPr>
          <a:xfrm>
            <a:off x="5173770" y="1785378"/>
            <a:ext cx="11261983" cy="1455527"/>
          </a:xfrm>
          <a:prstGeom prst="rect">
            <a:avLst/>
          </a:prstGeom>
        </p:spPr>
        <p:txBody>
          <a:bodyPr wrap="square" lIns="0" tIns="0" rIns="0" bIns="0" rtlCol="0" anchor="t">
            <a:spAutoFit/>
          </a:bodyPr>
          <a:lstStyle/>
          <a:p>
            <a:pPr marL="285750" marR="0" lvl="0" indent="-285750" algn="ctr" defTabSz="914400" rtl="0" eaLnBrk="1" fontAlgn="auto" latinLnBrk="0" hangingPunct="1">
              <a:lnSpc>
                <a:spcPts val="2880"/>
              </a:lnSpc>
              <a:spcBef>
                <a:spcPts val="0"/>
              </a:spcBef>
              <a:spcAft>
                <a:spcPts val="0"/>
              </a:spcAft>
              <a:buClr>
                <a:schemeClr val="bg1"/>
              </a:buClr>
              <a:buSzTx/>
              <a:buFont typeface="Arial" panose="020B0604020202020204" pitchFamily="34" charset="0"/>
              <a:buChar char="•"/>
              <a:tabLst/>
              <a:defRPr/>
            </a:pPr>
            <a:r>
              <a:rPr lang="en-US" sz="2200" kern="1200" dirty="0">
                <a:solidFill>
                  <a:schemeClr val="bg1"/>
                </a:solidFill>
                <a:latin typeface="Telegraf"/>
                <a:ea typeface="Telegraf"/>
                <a:cs typeface="Telegraf"/>
                <a:sym typeface="Telegraf"/>
              </a:rPr>
              <a:t>Precision: Of all </a:t>
            </a:r>
            <a:r>
              <a:rPr lang="en-US" sz="2200" kern="1200" dirty="0" err="1">
                <a:solidFill>
                  <a:schemeClr val="bg1"/>
                </a:solidFill>
                <a:latin typeface="Telegraf"/>
                <a:ea typeface="Telegraf"/>
                <a:cs typeface="Telegraf"/>
                <a:sym typeface="Telegraf"/>
              </a:rPr>
              <a:t>boookings</a:t>
            </a:r>
            <a:r>
              <a:rPr lang="en-US" sz="2200" kern="1200" dirty="0">
                <a:solidFill>
                  <a:schemeClr val="bg1"/>
                </a:solidFill>
                <a:latin typeface="Telegraf"/>
                <a:ea typeface="Telegraf"/>
                <a:cs typeface="Telegraf"/>
                <a:sym typeface="Telegraf"/>
              </a:rPr>
              <a:t> the model predicted as Cancelled, how many were actually cancelled </a:t>
            </a:r>
          </a:p>
          <a:p>
            <a:pPr marR="0" lvl="0" algn="ctr" defTabSz="914400" rtl="0" eaLnBrk="1" fontAlgn="auto" latinLnBrk="0" hangingPunct="1">
              <a:lnSpc>
                <a:spcPts val="2880"/>
              </a:lnSpc>
              <a:spcBef>
                <a:spcPts val="0"/>
              </a:spcBef>
              <a:spcAft>
                <a:spcPts val="0"/>
              </a:spcAft>
              <a:buClr>
                <a:schemeClr val="bg1"/>
              </a:buClr>
              <a:buSzTx/>
              <a:tabLst/>
              <a:defRPr/>
            </a:pPr>
            <a:r>
              <a:rPr lang="en-US" sz="2200" kern="1200" dirty="0">
                <a:solidFill>
                  <a:schemeClr val="bg1"/>
                </a:solidFill>
                <a:latin typeface="Telegraf"/>
                <a:ea typeface="Telegraf"/>
                <a:cs typeface="Telegraf"/>
                <a:sym typeface="Telegraf"/>
              </a:rPr>
              <a:t>TP/FP + TP</a:t>
            </a:r>
          </a:p>
          <a:p>
            <a:pPr marL="285750" marR="0" lvl="0" indent="-285750" algn="ctr" defTabSz="914400" rtl="0" eaLnBrk="1" fontAlgn="auto" latinLnBrk="0" hangingPunct="1">
              <a:lnSpc>
                <a:spcPts val="2880"/>
              </a:lnSpc>
              <a:spcBef>
                <a:spcPts val="0"/>
              </a:spcBef>
              <a:spcAft>
                <a:spcPts val="0"/>
              </a:spcAft>
              <a:buClr>
                <a:schemeClr val="bg1"/>
              </a:buClr>
              <a:buSzTx/>
              <a:buFont typeface="Arial" panose="020B0604020202020204" pitchFamily="34" charset="0"/>
              <a:buChar char="•"/>
              <a:tabLst/>
              <a:defRPr/>
            </a:pPr>
            <a:r>
              <a:rPr kumimoji="0" lang="en-US" sz="2200" b="0" i="0" u="none" strike="noStrike" kern="1200" cap="none" spc="0" normalizeH="0" baseline="0" noProof="0" dirty="0">
                <a:ln>
                  <a:noFill/>
                </a:ln>
                <a:solidFill>
                  <a:schemeClr val="bg1"/>
                </a:solidFill>
                <a:effectLst/>
                <a:uLnTx/>
                <a:uFillTx/>
                <a:latin typeface="Telegraf"/>
                <a:ea typeface="Telegraf"/>
                <a:cs typeface="Telegraf"/>
                <a:sym typeface="Telegraf"/>
              </a:rPr>
              <a:t>Recall: Of all actual cancelled bookings, how many did the model correctly identify? </a:t>
            </a:r>
          </a:p>
          <a:p>
            <a:pPr marR="0" lvl="0" algn="ctr" defTabSz="914400" rtl="0" eaLnBrk="1" fontAlgn="auto" latinLnBrk="0" hangingPunct="1">
              <a:lnSpc>
                <a:spcPts val="2880"/>
              </a:lnSpc>
              <a:spcBef>
                <a:spcPts val="0"/>
              </a:spcBef>
              <a:spcAft>
                <a:spcPts val="0"/>
              </a:spcAft>
              <a:buClr>
                <a:schemeClr val="bg1"/>
              </a:buClr>
              <a:buSzTx/>
              <a:tabLst/>
              <a:defRPr/>
            </a:pPr>
            <a:r>
              <a:rPr kumimoji="0" lang="en-US" sz="2200" b="0" i="0" u="none" strike="noStrike" kern="1200" cap="none" spc="0" normalizeH="0" baseline="0" noProof="0" dirty="0">
                <a:ln>
                  <a:noFill/>
                </a:ln>
                <a:solidFill>
                  <a:schemeClr val="bg1"/>
                </a:solidFill>
                <a:effectLst/>
                <a:uLnTx/>
                <a:uFillTx/>
                <a:latin typeface="Telegraf"/>
                <a:ea typeface="Telegraf"/>
                <a:cs typeface="Telegraf"/>
                <a:sym typeface="Telegraf"/>
              </a:rPr>
              <a:t>TP/FN+TP</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1">
          <a:extLst>
            <a:ext uri="{FF2B5EF4-FFF2-40B4-BE49-F238E27FC236}">
              <a16:creationId xmlns:a16="http://schemas.microsoft.com/office/drawing/2014/main" id="{EAD85ADF-8F4E-BF25-1960-0289C523947D}"/>
            </a:ext>
          </a:extLst>
        </p:cNvPr>
        <p:cNvGrpSpPr/>
        <p:nvPr/>
      </p:nvGrpSpPr>
      <p:grpSpPr>
        <a:xfrm>
          <a:off x="0" y="0"/>
          <a:ext cx="0" cy="0"/>
          <a:chOff x="0" y="0"/>
          <a:chExt cx="0" cy="0"/>
        </a:xfrm>
      </p:grpSpPr>
      <p:grpSp>
        <p:nvGrpSpPr>
          <p:cNvPr id="268" name="Google Shape;268;p26">
            <a:extLst>
              <a:ext uri="{FF2B5EF4-FFF2-40B4-BE49-F238E27FC236}">
                <a16:creationId xmlns:a16="http://schemas.microsoft.com/office/drawing/2014/main" id="{CC70C94C-9581-B28F-059E-88E11E14CB1E}"/>
              </a:ext>
            </a:extLst>
          </p:cNvPr>
          <p:cNvGrpSpPr/>
          <p:nvPr/>
        </p:nvGrpSpPr>
        <p:grpSpPr>
          <a:xfrm>
            <a:off x="-527617" y="-211336"/>
            <a:ext cx="3016212" cy="10498336"/>
            <a:chOff x="0" y="-38100"/>
            <a:chExt cx="1003448" cy="2764994"/>
          </a:xfrm>
          <a:solidFill>
            <a:schemeClr val="bg1">
              <a:lumMod val="95000"/>
            </a:schemeClr>
          </a:solidFill>
        </p:grpSpPr>
        <p:sp>
          <p:nvSpPr>
            <p:cNvPr id="269" name="Google Shape;269;p26">
              <a:extLst>
                <a:ext uri="{FF2B5EF4-FFF2-40B4-BE49-F238E27FC236}">
                  <a16:creationId xmlns:a16="http://schemas.microsoft.com/office/drawing/2014/main" id="{A966B14D-0547-E717-64D4-59312E9B3848}"/>
                </a:ext>
              </a:extLst>
            </p:cNvPr>
            <p:cNvSpPr/>
            <p:nvPr/>
          </p:nvSpPr>
          <p:spPr>
            <a:xfrm>
              <a:off x="0" y="0"/>
              <a:ext cx="1003448" cy="2726894"/>
            </a:xfrm>
            <a:custGeom>
              <a:avLst/>
              <a:gdLst/>
              <a:ahLst/>
              <a:cxnLst/>
              <a:rect l="l" t="t" r="r" b="b"/>
              <a:pathLst>
                <a:path w="1003448" h="2726894" extrusionOk="0">
                  <a:moveTo>
                    <a:pt x="0" y="0"/>
                  </a:moveTo>
                  <a:lnTo>
                    <a:pt x="1003448" y="0"/>
                  </a:lnTo>
                  <a:lnTo>
                    <a:pt x="1003448" y="2726894"/>
                  </a:lnTo>
                  <a:lnTo>
                    <a:pt x="0" y="2726894"/>
                  </a:lnTo>
                  <a:close/>
                </a:path>
              </a:pathLst>
            </a:custGeom>
            <a:grpFill/>
            <a:ln>
              <a:solidFill>
                <a:schemeClr val="bg1">
                  <a:lumMod val="95000"/>
                </a:schemeClr>
              </a:solid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270;p26">
              <a:extLst>
                <a:ext uri="{FF2B5EF4-FFF2-40B4-BE49-F238E27FC236}">
                  <a16:creationId xmlns:a16="http://schemas.microsoft.com/office/drawing/2014/main" id="{0F2F7E71-68AB-7392-C6A6-52A4DCF01C6B}"/>
                </a:ext>
              </a:extLst>
            </p:cNvPr>
            <p:cNvSpPr txBox="1"/>
            <p:nvPr/>
          </p:nvSpPr>
          <p:spPr>
            <a:xfrm>
              <a:off x="0" y="-38100"/>
              <a:ext cx="1003448" cy="2764994"/>
            </a:xfrm>
            <a:prstGeom prst="rect">
              <a:avLst/>
            </a:prstGeom>
            <a:grpFill/>
            <a:ln>
              <a:solidFill>
                <a:schemeClr val="bg1">
                  <a:lumMod val="95000"/>
                </a:schemeClr>
              </a:solidFill>
            </a:ln>
          </p:spPr>
          <p:txBody>
            <a:bodyPr spcFirstLastPara="1" wrap="square" lIns="50800" tIns="50800" rIns="50800" bIns="50800" anchor="ctr" anchorCtr="0">
              <a:noAutofit/>
            </a:bodyPr>
            <a:lstStyle/>
            <a:p>
              <a:pPr marL="0" marR="0" lvl="0" indent="0" algn="ctr" defTabSz="914400" rtl="0" eaLnBrk="1" fontAlgn="auto" latinLnBrk="0" hangingPunct="1">
                <a:lnSpc>
                  <a:spcPct val="124388"/>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 name="TextBox 1">
            <a:extLst>
              <a:ext uri="{FF2B5EF4-FFF2-40B4-BE49-F238E27FC236}">
                <a16:creationId xmlns:a16="http://schemas.microsoft.com/office/drawing/2014/main" id="{152AD54F-B2B7-232C-1270-B1E97155418D}"/>
              </a:ext>
            </a:extLst>
          </p:cNvPr>
          <p:cNvSpPr txBox="1"/>
          <p:nvPr/>
        </p:nvSpPr>
        <p:spPr>
          <a:xfrm rot="16200000">
            <a:off x="-3312041" y="3164449"/>
            <a:ext cx="11929725" cy="30162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0" b="0" i="0" u="none" strike="noStrike" kern="1200" cap="none" spc="0" normalizeH="0" baseline="0" noProof="0" dirty="0">
                <a:ln>
                  <a:noFill/>
                </a:ln>
                <a:solidFill>
                  <a:srgbClr val="4BACC6"/>
                </a:solidFill>
                <a:effectLst/>
                <a:uLnTx/>
                <a:uFillTx/>
                <a:latin typeface="Anton"/>
                <a:ea typeface="Anton"/>
                <a:cs typeface="Anton"/>
                <a:sym typeface="Anton"/>
              </a:rPr>
              <a:t>BEST MODEL</a:t>
            </a:r>
            <a:endParaRPr kumimoji="0" lang="en-US" sz="190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TextBox 2">
            <a:extLst>
              <a:ext uri="{FF2B5EF4-FFF2-40B4-BE49-F238E27FC236}">
                <a16:creationId xmlns:a16="http://schemas.microsoft.com/office/drawing/2014/main" id="{9B6E1CDD-86E2-23F5-6896-DC57BA923033}"/>
              </a:ext>
            </a:extLst>
          </p:cNvPr>
          <p:cNvSpPr txBox="1"/>
          <p:nvPr/>
        </p:nvSpPr>
        <p:spPr>
          <a:xfrm>
            <a:off x="13482084" y="818324"/>
            <a:ext cx="6033470"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000" b="0" i="0" u="none" strike="noStrike" kern="1200" cap="none" spc="0" normalizeH="0" baseline="0" noProof="0" dirty="0">
                <a:ln>
                  <a:noFill/>
                </a:ln>
                <a:solidFill>
                  <a:srgbClr val="4BACC6"/>
                </a:solidFill>
                <a:effectLst/>
                <a:uLnTx/>
                <a:uFillTx/>
                <a:latin typeface="Anton"/>
                <a:ea typeface="Anton"/>
                <a:cs typeface="Anton"/>
                <a:sym typeface="Anton"/>
              </a:rPr>
              <a:t>CONFUSION MATRIX</a:t>
            </a:r>
            <a:endParaRPr kumimoji="0" lang="en-US" sz="50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14" name="Straight Connector 13">
            <a:extLst>
              <a:ext uri="{FF2B5EF4-FFF2-40B4-BE49-F238E27FC236}">
                <a16:creationId xmlns:a16="http://schemas.microsoft.com/office/drawing/2014/main" id="{C8FB4563-3C35-B6AB-C3AC-F3CE5077DA86}"/>
              </a:ext>
            </a:extLst>
          </p:cNvPr>
          <p:cNvCxnSpPr>
            <a:cxnSpLocks/>
          </p:cNvCxnSpPr>
          <p:nvPr/>
        </p:nvCxnSpPr>
        <p:spPr>
          <a:xfrm>
            <a:off x="3462991" y="1249211"/>
            <a:ext cx="1001909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9" name="Picture 8" descr="A graph of confusion matrix&#10;&#10;AI-generated content may be incorrect.">
            <a:extLst>
              <a:ext uri="{FF2B5EF4-FFF2-40B4-BE49-F238E27FC236}">
                <a16:creationId xmlns:a16="http://schemas.microsoft.com/office/drawing/2014/main" id="{9C84D5CB-0F0D-4077-7F4E-E402491D6AAB}"/>
              </a:ext>
            </a:extLst>
          </p:cNvPr>
          <p:cNvPicPr>
            <a:picLocks noChangeAspect="1"/>
          </p:cNvPicPr>
          <p:nvPr/>
        </p:nvPicPr>
        <p:blipFill>
          <a:blip r:embed="rId3"/>
          <a:stretch>
            <a:fillRect/>
          </a:stretch>
        </p:blipFill>
        <p:spPr>
          <a:xfrm>
            <a:off x="5833260" y="1680098"/>
            <a:ext cx="10882280" cy="8161710"/>
          </a:xfrm>
          <a:prstGeom prst="rect">
            <a:avLst/>
          </a:prstGeom>
        </p:spPr>
      </p:pic>
    </p:spTree>
    <p:extLst>
      <p:ext uri="{BB962C8B-B14F-4D97-AF65-F5344CB8AC3E}">
        <p14:creationId xmlns:p14="http://schemas.microsoft.com/office/powerpoint/2010/main" val="134839413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1">
          <a:extLst>
            <a:ext uri="{FF2B5EF4-FFF2-40B4-BE49-F238E27FC236}">
              <a16:creationId xmlns:a16="http://schemas.microsoft.com/office/drawing/2014/main" id="{EE1A3A84-5A79-0BB1-6560-DD742E167B52}"/>
            </a:ext>
          </a:extLst>
        </p:cNvPr>
        <p:cNvGrpSpPr/>
        <p:nvPr/>
      </p:nvGrpSpPr>
      <p:grpSpPr>
        <a:xfrm>
          <a:off x="0" y="0"/>
          <a:ext cx="0" cy="0"/>
          <a:chOff x="0" y="0"/>
          <a:chExt cx="0" cy="0"/>
        </a:xfrm>
      </p:grpSpPr>
      <p:grpSp>
        <p:nvGrpSpPr>
          <p:cNvPr id="268" name="Google Shape;268;p26">
            <a:extLst>
              <a:ext uri="{FF2B5EF4-FFF2-40B4-BE49-F238E27FC236}">
                <a16:creationId xmlns:a16="http://schemas.microsoft.com/office/drawing/2014/main" id="{2982A9B2-AAA5-54AA-D3DF-3E58D5D14700}"/>
              </a:ext>
            </a:extLst>
          </p:cNvPr>
          <p:cNvGrpSpPr/>
          <p:nvPr/>
        </p:nvGrpSpPr>
        <p:grpSpPr>
          <a:xfrm>
            <a:off x="-527617" y="-211336"/>
            <a:ext cx="3016212" cy="10498336"/>
            <a:chOff x="0" y="-38100"/>
            <a:chExt cx="1003448" cy="2764994"/>
          </a:xfrm>
          <a:solidFill>
            <a:schemeClr val="bg1">
              <a:lumMod val="95000"/>
            </a:schemeClr>
          </a:solidFill>
        </p:grpSpPr>
        <p:sp>
          <p:nvSpPr>
            <p:cNvPr id="269" name="Google Shape;269;p26">
              <a:extLst>
                <a:ext uri="{FF2B5EF4-FFF2-40B4-BE49-F238E27FC236}">
                  <a16:creationId xmlns:a16="http://schemas.microsoft.com/office/drawing/2014/main" id="{7937B1AA-1C7E-CB88-09FC-CEA1655DED52}"/>
                </a:ext>
              </a:extLst>
            </p:cNvPr>
            <p:cNvSpPr/>
            <p:nvPr/>
          </p:nvSpPr>
          <p:spPr>
            <a:xfrm>
              <a:off x="0" y="0"/>
              <a:ext cx="1003448" cy="2726894"/>
            </a:xfrm>
            <a:custGeom>
              <a:avLst/>
              <a:gdLst/>
              <a:ahLst/>
              <a:cxnLst/>
              <a:rect l="l" t="t" r="r" b="b"/>
              <a:pathLst>
                <a:path w="1003448" h="2726894" extrusionOk="0">
                  <a:moveTo>
                    <a:pt x="0" y="0"/>
                  </a:moveTo>
                  <a:lnTo>
                    <a:pt x="1003448" y="0"/>
                  </a:lnTo>
                  <a:lnTo>
                    <a:pt x="1003448" y="2726894"/>
                  </a:lnTo>
                  <a:lnTo>
                    <a:pt x="0" y="2726894"/>
                  </a:lnTo>
                  <a:close/>
                </a:path>
              </a:pathLst>
            </a:custGeom>
            <a:grpFill/>
            <a:ln>
              <a:solidFill>
                <a:schemeClr val="bg1">
                  <a:lumMod val="95000"/>
                </a:schemeClr>
              </a:solid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270;p26">
              <a:extLst>
                <a:ext uri="{FF2B5EF4-FFF2-40B4-BE49-F238E27FC236}">
                  <a16:creationId xmlns:a16="http://schemas.microsoft.com/office/drawing/2014/main" id="{597C35F7-D1B5-1AED-001D-1BD8A1B6B490}"/>
                </a:ext>
              </a:extLst>
            </p:cNvPr>
            <p:cNvSpPr txBox="1"/>
            <p:nvPr/>
          </p:nvSpPr>
          <p:spPr>
            <a:xfrm>
              <a:off x="0" y="-38100"/>
              <a:ext cx="1003448" cy="2764994"/>
            </a:xfrm>
            <a:prstGeom prst="rect">
              <a:avLst/>
            </a:prstGeom>
            <a:grpFill/>
            <a:ln>
              <a:solidFill>
                <a:schemeClr val="bg1">
                  <a:lumMod val="95000"/>
                </a:schemeClr>
              </a:solidFill>
            </a:ln>
          </p:spPr>
          <p:txBody>
            <a:bodyPr spcFirstLastPara="1" wrap="square" lIns="50800" tIns="50800" rIns="50800" bIns="50800" anchor="ctr" anchorCtr="0">
              <a:noAutofit/>
            </a:bodyPr>
            <a:lstStyle/>
            <a:p>
              <a:pPr marL="0" marR="0" lvl="0" indent="0" algn="ctr" defTabSz="914400" rtl="0" eaLnBrk="1" fontAlgn="auto" latinLnBrk="0" hangingPunct="1">
                <a:lnSpc>
                  <a:spcPct val="124388"/>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 name="TextBox 1">
            <a:extLst>
              <a:ext uri="{FF2B5EF4-FFF2-40B4-BE49-F238E27FC236}">
                <a16:creationId xmlns:a16="http://schemas.microsoft.com/office/drawing/2014/main" id="{B6AD1E51-F2B2-7268-0309-3C782A112288}"/>
              </a:ext>
            </a:extLst>
          </p:cNvPr>
          <p:cNvSpPr txBox="1"/>
          <p:nvPr/>
        </p:nvSpPr>
        <p:spPr>
          <a:xfrm rot="16200000">
            <a:off x="-3312041" y="3164449"/>
            <a:ext cx="11929725" cy="30162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0" b="0" i="0" u="none" strike="noStrike" kern="1200" cap="none" spc="0" normalizeH="0" baseline="0" noProof="0" dirty="0">
                <a:ln>
                  <a:noFill/>
                </a:ln>
                <a:solidFill>
                  <a:srgbClr val="4BACC6"/>
                </a:solidFill>
                <a:effectLst/>
                <a:uLnTx/>
                <a:uFillTx/>
                <a:latin typeface="Anton"/>
                <a:ea typeface="Anton"/>
                <a:cs typeface="Anton"/>
                <a:sym typeface="Anton"/>
              </a:rPr>
              <a:t>BEST MODEL</a:t>
            </a:r>
            <a:endParaRPr kumimoji="0" lang="en-US" sz="190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TextBox 2">
            <a:extLst>
              <a:ext uri="{FF2B5EF4-FFF2-40B4-BE49-F238E27FC236}">
                <a16:creationId xmlns:a16="http://schemas.microsoft.com/office/drawing/2014/main" id="{0978B5F3-5DA1-1086-E4C7-5A22AE0A591D}"/>
              </a:ext>
            </a:extLst>
          </p:cNvPr>
          <p:cNvSpPr txBox="1"/>
          <p:nvPr/>
        </p:nvSpPr>
        <p:spPr>
          <a:xfrm>
            <a:off x="13482084" y="818324"/>
            <a:ext cx="6033470"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000" b="0" i="0" u="none" strike="noStrike" kern="1200" cap="none" spc="0" normalizeH="0" baseline="0" noProof="0" dirty="0">
                <a:ln>
                  <a:noFill/>
                </a:ln>
                <a:solidFill>
                  <a:srgbClr val="4BACC6"/>
                </a:solidFill>
                <a:effectLst/>
                <a:uLnTx/>
                <a:uFillTx/>
                <a:latin typeface="Anton"/>
                <a:ea typeface="Anton"/>
                <a:cs typeface="Anton"/>
                <a:sym typeface="Anton"/>
              </a:rPr>
              <a:t>CROSS-VALIDATION</a:t>
            </a:r>
            <a:endParaRPr kumimoji="0" lang="en-US" sz="50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14" name="Straight Connector 13">
            <a:extLst>
              <a:ext uri="{FF2B5EF4-FFF2-40B4-BE49-F238E27FC236}">
                <a16:creationId xmlns:a16="http://schemas.microsoft.com/office/drawing/2014/main" id="{B55F2436-A46F-8793-DC5B-336A31C9CBFF}"/>
              </a:ext>
            </a:extLst>
          </p:cNvPr>
          <p:cNvCxnSpPr>
            <a:cxnSpLocks/>
          </p:cNvCxnSpPr>
          <p:nvPr/>
        </p:nvCxnSpPr>
        <p:spPr>
          <a:xfrm>
            <a:off x="3462991" y="1249211"/>
            <a:ext cx="1001909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7" name="Picture 6" descr="A graph with blue bars&#10;&#10;AI-generated content may be incorrect.">
            <a:extLst>
              <a:ext uri="{FF2B5EF4-FFF2-40B4-BE49-F238E27FC236}">
                <a16:creationId xmlns:a16="http://schemas.microsoft.com/office/drawing/2014/main" id="{02680805-59F0-0DF6-432F-81AC4BDE7AFE}"/>
              </a:ext>
            </a:extLst>
          </p:cNvPr>
          <p:cNvPicPr>
            <a:picLocks noChangeAspect="1"/>
          </p:cNvPicPr>
          <p:nvPr/>
        </p:nvPicPr>
        <p:blipFill>
          <a:blip r:embed="rId3"/>
          <a:stretch>
            <a:fillRect/>
          </a:stretch>
        </p:blipFill>
        <p:spPr>
          <a:xfrm>
            <a:off x="6146081" y="2205318"/>
            <a:ext cx="9109961" cy="7010863"/>
          </a:xfrm>
          <a:prstGeom prst="rect">
            <a:avLst/>
          </a:prstGeom>
        </p:spPr>
      </p:pic>
    </p:spTree>
    <p:extLst>
      <p:ext uri="{BB962C8B-B14F-4D97-AF65-F5344CB8AC3E}">
        <p14:creationId xmlns:p14="http://schemas.microsoft.com/office/powerpoint/2010/main" val="204387410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1">
          <a:extLst>
            <a:ext uri="{FF2B5EF4-FFF2-40B4-BE49-F238E27FC236}">
              <a16:creationId xmlns:a16="http://schemas.microsoft.com/office/drawing/2014/main" id="{1DB574FA-0931-B197-45B0-3373DC8BF579}"/>
            </a:ext>
          </a:extLst>
        </p:cNvPr>
        <p:cNvGrpSpPr/>
        <p:nvPr/>
      </p:nvGrpSpPr>
      <p:grpSpPr>
        <a:xfrm>
          <a:off x="0" y="0"/>
          <a:ext cx="0" cy="0"/>
          <a:chOff x="0" y="0"/>
          <a:chExt cx="0" cy="0"/>
        </a:xfrm>
      </p:grpSpPr>
      <p:grpSp>
        <p:nvGrpSpPr>
          <p:cNvPr id="268" name="Google Shape;268;p26">
            <a:extLst>
              <a:ext uri="{FF2B5EF4-FFF2-40B4-BE49-F238E27FC236}">
                <a16:creationId xmlns:a16="http://schemas.microsoft.com/office/drawing/2014/main" id="{B4D44A4C-605F-0E1C-7952-8A4E14B556F7}"/>
              </a:ext>
            </a:extLst>
          </p:cNvPr>
          <p:cNvGrpSpPr/>
          <p:nvPr/>
        </p:nvGrpSpPr>
        <p:grpSpPr>
          <a:xfrm>
            <a:off x="-527617" y="-211336"/>
            <a:ext cx="3016212" cy="10498336"/>
            <a:chOff x="0" y="-38100"/>
            <a:chExt cx="1003448" cy="2764994"/>
          </a:xfrm>
          <a:solidFill>
            <a:schemeClr val="bg1">
              <a:lumMod val="95000"/>
            </a:schemeClr>
          </a:solidFill>
        </p:grpSpPr>
        <p:sp>
          <p:nvSpPr>
            <p:cNvPr id="269" name="Google Shape;269;p26">
              <a:extLst>
                <a:ext uri="{FF2B5EF4-FFF2-40B4-BE49-F238E27FC236}">
                  <a16:creationId xmlns:a16="http://schemas.microsoft.com/office/drawing/2014/main" id="{A92779C3-312E-CDCB-F8A7-2E9A881CDB4E}"/>
                </a:ext>
              </a:extLst>
            </p:cNvPr>
            <p:cNvSpPr/>
            <p:nvPr/>
          </p:nvSpPr>
          <p:spPr>
            <a:xfrm>
              <a:off x="0" y="0"/>
              <a:ext cx="1003448" cy="2726894"/>
            </a:xfrm>
            <a:custGeom>
              <a:avLst/>
              <a:gdLst/>
              <a:ahLst/>
              <a:cxnLst/>
              <a:rect l="l" t="t" r="r" b="b"/>
              <a:pathLst>
                <a:path w="1003448" h="2726894" extrusionOk="0">
                  <a:moveTo>
                    <a:pt x="0" y="0"/>
                  </a:moveTo>
                  <a:lnTo>
                    <a:pt x="1003448" y="0"/>
                  </a:lnTo>
                  <a:lnTo>
                    <a:pt x="1003448" y="2726894"/>
                  </a:lnTo>
                  <a:lnTo>
                    <a:pt x="0" y="2726894"/>
                  </a:lnTo>
                  <a:close/>
                </a:path>
              </a:pathLst>
            </a:custGeom>
            <a:grpFill/>
            <a:ln>
              <a:solidFill>
                <a:schemeClr val="bg1">
                  <a:lumMod val="95000"/>
                </a:schemeClr>
              </a:solid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270;p26">
              <a:extLst>
                <a:ext uri="{FF2B5EF4-FFF2-40B4-BE49-F238E27FC236}">
                  <a16:creationId xmlns:a16="http://schemas.microsoft.com/office/drawing/2014/main" id="{1922242E-BE88-8585-8F1D-EEA2D51B39AD}"/>
                </a:ext>
              </a:extLst>
            </p:cNvPr>
            <p:cNvSpPr txBox="1"/>
            <p:nvPr/>
          </p:nvSpPr>
          <p:spPr>
            <a:xfrm>
              <a:off x="0" y="-38100"/>
              <a:ext cx="1003448" cy="2764994"/>
            </a:xfrm>
            <a:prstGeom prst="rect">
              <a:avLst/>
            </a:prstGeom>
            <a:grpFill/>
            <a:ln>
              <a:solidFill>
                <a:schemeClr val="bg1">
                  <a:lumMod val="95000"/>
                </a:schemeClr>
              </a:solidFill>
            </a:ln>
          </p:spPr>
          <p:txBody>
            <a:bodyPr spcFirstLastPara="1" wrap="square" lIns="50800" tIns="50800" rIns="50800" bIns="50800" anchor="ctr" anchorCtr="0">
              <a:noAutofit/>
            </a:bodyPr>
            <a:lstStyle/>
            <a:p>
              <a:pPr marL="0" marR="0" lvl="0" indent="0" algn="ctr" defTabSz="914400" rtl="0" eaLnBrk="1" fontAlgn="auto" latinLnBrk="0" hangingPunct="1">
                <a:lnSpc>
                  <a:spcPct val="124388"/>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 name="TextBox 1">
            <a:extLst>
              <a:ext uri="{FF2B5EF4-FFF2-40B4-BE49-F238E27FC236}">
                <a16:creationId xmlns:a16="http://schemas.microsoft.com/office/drawing/2014/main" id="{A84581A6-EB25-CB0E-C425-CB6635D5598D}"/>
              </a:ext>
            </a:extLst>
          </p:cNvPr>
          <p:cNvSpPr txBox="1"/>
          <p:nvPr/>
        </p:nvSpPr>
        <p:spPr>
          <a:xfrm rot="16200000">
            <a:off x="-3312041" y="3164449"/>
            <a:ext cx="11929725" cy="30162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0" b="0" i="0" u="none" strike="noStrike" kern="1200" cap="none" spc="0" normalizeH="0" baseline="0" noProof="0" dirty="0">
                <a:ln>
                  <a:noFill/>
                </a:ln>
                <a:solidFill>
                  <a:srgbClr val="4BACC6"/>
                </a:solidFill>
                <a:effectLst/>
                <a:uLnTx/>
                <a:uFillTx/>
                <a:latin typeface="Anton"/>
                <a:ea typeface="Anton"/>
                <a:cs typeface="Anton"/>
                <a:sym typeface="Anton"/>
              </a:rPr>
              <a:t>BEST MODEL</a:t>
            </a:r>
            <a:endParaRPr kumimoji="0" lang="en-US" sz="190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TextBox 2">
            <a:extLst>
              <a:ext uri="{FF2B5EF4-FFF2-40B4-BE49-F238E27FC236}">
                <a16:creationId xmlns:a16="http://schemas.microsoft.com/office/drawing/2014/main" id="{B96DECC0-E323-3A58-C94B-E29A81F58924}"/>
              </a:ext>
            </a:extLst>
          </p:cNvPr>
          <p:cNvSpPr txBox="1"/>
          <p:nvPr/>
        </p:nvSpPr>
        <p:spPr>
          <a:xfrm>
            <a:off x="11003578" y="818325"/>
            <a:ext cx="7910063"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5000" kern="1200" dirty="0">
                <a:solidFill>
                  <a:srgbClr val="4BACC6"/>
                </a:solidFill>
                <a:latin typeface="Anton"/>
                <a:sym typeface="Anton"/>
              </a:rPr>
              <a:t>TOP 10 FEATURE IMPORTANCES</a:t>
            </a:r>
            <a:endParaRPr kumimoji="0" lang="en-US" sz="50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14" name="Straight Connector 13">
            <a:extLst>
              <a:ext uri="{FF2B5EF4-FFF2-40B4-BE49-F238E27FC236}">
                <a16:creationId xmlns:a16="http://schemas.microsoft.com/office/drawing/2014/main" id="{D1540EC2-B98E-1398-7B9C-82067B93F1C6}"/>
              </a:ext>
            </a:extLst>
          </p:cNvPr>
          <p:cNvCxnSpPr>
            <a:cxnSpLocks/>
            <a:endCxn id="3" idx="1"/>
          </p:cNvCxnSpPr>
          <p:nvPr/>
        </p:nvCxnSpPr>
        <p:spPr>
          <a:xfrm>
            <a:off x="3462991" y="1249211"/>
            <a:ext cx="7540587" cy="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6" name="Picture 5" descr="A graph with blue squares&#10;&#10;AI-generated content may be incorrect.">
            <a:extLst>
              <a:ext uri="{FF2B5EF4-FFF2-40B4-BE49-F238E27FC236}">
                <a16:creationId xmlns:a16="http://schemas.microsoft.com/office/drawing/2014/main" id="{BC9CEEAB-C016-9B4B-7204-74838218E00B}"/>
              </a:ext>
            </a:extLst>
          </p:cNvPr>
          <p:cNvPicPr>
            <a:picLocks noChangeAspect="1"/>
          </p:cNvPicPr>
          <p:nvPr/>
        </p:nvPicPr>
        <p:blipFill>
          <a:blip r:embed="rId3"/>
          <a:stretch>
            <a:fillRect/>
          </a:stretch>
        </p:blipFill>
        <p:spPr>
          <a:xfrm>
            <a:off x="4255872" y="1925055"/>
            <a:ext cx="13069600" cy="7841760"/>
          </a:xfrm>
          <a:prstGeom prst="rect">
            <a:avLst/>
          </a:prstGeom>
        </p:spPr>
      </p:pic>
    </p:spTree>
    <p:extLst>
      <p:ext uri="{BB962C8B-B14F-4D97-AF65-F5344CB8AC3E}">
        <p14:creationId xmlns:p14="http://schemas.microsoft.com/office/powerpoint/2010/main" val="228867865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360544" y="982383"/>
            <a:ext cx="2768048" cy="1365249"/>
          </a:xfrm>
          <a:prstGeom prst="rect">
            <a:avLst/>
          </a:prstGeom>
        </p:spPr>
        <p:txBody>
          <a:bodyPr wrap="square" lIns="0" tIns="0" rIns="0" bIns="0" rtlCol="0" anchor="t">
            <a:spAutoFit/>
          </a:bodyPr>
          <a:lstStyle/>
          <a:p>
            <a:pPr marL="0" marR="0" lvl="0" indent="0" algn="l" defTabSz="914400" rtl="0" eaLnBrk="1" fontAlgn="auto" latinLnBrk="0" hangingPunct="1">
              <a:lnSpc>
                <a:spcPts val="10399"/>
              </a:lnSpc>
              <a:spcBef>
                <a:spcPct val="0"/>
              </a:spcBef>
              <a:spcAft>
                <a:spcPts val="0"/>
              </a:spcAft>
              <a:buClrTx/>
              <a:buSzTx/>
              <a:buFontTx/>
              <a:buNone/>
              <a:tabLst/>
              <a:defRPr/>
            </a:pPr>
            <a:r>
              <a:rPr kumimoji="0" lang="en-US" sz="9999" b="0" i="0" u="none" strike="noStrike" kern="1200" cap="none" spc="0" normalizeH="0" baseline="0" noProof="0" dirty="0">
                <a:ln>
                  <a:noFill/>
                </a:ln>
                <a:solidFill>
                  <a:schemeClr val="accent5"/>
                </a:solidFill>
                <a:effectLst/>
                <a:uLnTx/>
                <a:uFillTx/>
                <a:latin typeface="Anton"/>
                <a:ea typeface="Anton"/>
                <a:cs typeface="Anton"/>
                <a:sym typeface="Anton"/>
              </a:rPr>
              <a:t>BEST</a:t>
            </a:r>
          </a:p>
        </p:txBody>
      </p:sp>
      <p:sp>
        <p:nvSpPr>
          <p:cNvPr id="3" name="TextBox 3"/>
          <p:cNvSpPr txBox="1"/>
          <p:nvPr/>
        </p:nvSpPr>
        <p:spPr>
          <a:xfrm>
            <a:off x="12675433" y="7842930"/>
            <a:ext cx="3698707" cy="1365249"/>
          </a:xfrm>
          <a:prstGeom prst="rect">
            <a:avLst/>
          </a:prstGeom>
        </p:spPr>
        <p:txBody>
          <a:bodyPr wrap="square" lIns="0" tIns="0" rIns="0" bIns="0" rtlCol="0" anchor="t">
            <a:spAutoFit/>
          </a:bodyPr>
          <a:lstStyle/>
          <a:p>
            <a:pPr marL="0" marR="0" lvl="0" indent="0" algn="r" defTabSz="914400" rtl="0" eaLnBrk="1" fontAlgn="auto" latinLnBrk="0" hangingPunct="1">
              <a:lnSpc>
                <a:spcPts val="10399"/>
              </a:lnSpc>
              <a:spcBef>
                <a:spcPct val="0"/>
              </a:spcBef>
              <a:spcAft>
                <a:spcPts val="0"/>
              </a:spcAft>
              <a:buClrTx/>
              <a:buSzTx/>
              <a:buFontTx/>
              <a:buNone/>
              <a:tabLst/>
              <a:defRPr/>
            </a:pPr>
            <a:r>
              <a:rPr kumimoji="0" lang="en-US" sz="9999" b="0" i="0" u="none" strike="noStrike" kern="1200" cap="none" spc="0" normalizeH="0" baseline="0" noProof="0" dirty="0">
                <a:ln>
                  <a:noFill/>
                </a:ln>
                <a:solidFill>
                  <a:schemeClr val="accent5"/>
                </a:solidFill>
                <a:effectLst/>
                <a:uLnTx/>
                <a:uFillTx/>
                <a:latin typeface="Anton"/>
                <a:ea typeface="Anton"/>
                <a:cs typeface="Anton"/>
                <a:sym typeface="Anton"/>
              </a:rPr>
              <a:t>WORST</a:t>
            </a:r>
          </a:p>
        </p:txBody>
      </p:sp>
      <p:sp>
        <p:nvSpPr>
          <p:cNvPr id="5" name="TextBox 5"/>
          <p:cNvSpPr txBox="1"/>
          <p:nvPr/>
        </p:nvSpPr>
        <p:spPr>
          <a:xfrm>
            <a:off x="2360544" y="7381716"/>
            <a:ext cx="9824831" cy="2287678"/>
          </a:xfrm>
          <a:prstGeom prst="rect">
            <a:avLst/>
          </a:prstGeom>
        </p:spPr>
        <p:txBody>
          <a:bodyPr wrap="square" lIns="0" tIns="0" rIns="0" bIns="0" rtlCol="0" anchor="t">
            <a:spAutoFit/>
          </a:bodyPr>
          <a:lstStyle/>
          <a:p>
            <a:pPr marL="342900" marR="0" lvl="0" indent="-342900" algn="just" defTabSz="914400" rtl="0" eaLnBrk="1" fontAlgn="auto" latinLnBrk="0" hangingPunct="1">
              <a:lnSpc>
                <a:spcPts val="3640"/>
              </a:lnSpc>
              <a:spcBef>
                <a:spcPts val="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srgbClr val="FFFFFF"/>
                </a:solidFill>
                <a:effectLst/>
                <a:uLnTx/>
                <a:uFillTx/>
                <a:latin typeface="Telegraf"/>
                <a:ea typeface="Telegraf"/>
                <a:cs typeface="Telegraf"/>
                <a:sym typeface="Telegraf"/>
              </a:rPr>
              <a:t>Assumes all features are independent → not true for this dataset</a:t>
            </a:r>
          </a:p>
          <a:p>
            <a:pPr marL="342900" marR="0" lvl="0" indent="-342900" algn="just" defTabSz="914400" rtl="0" eaLnBrk="1" fontAlgn="auto" latinLnBrk="0" hangingPunct="1">
              <a:lnSpc>
                <a:spcPts val="3640"/>
              </a:lnSpc>
              <a:spcBef>
                <a:spcPts val="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srgbClr val="FFFFFF"/>
                </a:solidFill>
                <a:effectLst/>
                <a:uLnTx/>
                <a:uFillTx/>
                <a:latin typeface="Telegraf"/>
                <a:ea typeface="Telegraf"/>
                <a:cs typeface="Telegraf"/>
                <a:sym typeface="Telegraf"/>
              </a:rPr>
              <a:t>Cannot capture nonlinear relationships</a:t>
            </a:r>
          </a:p>
          <a:p>
            <a:pPr marL="342900" marR="0" lvl="0" indent="-342900" algn="just" defTabSz="914400" rtl="0" eaLnBrk="1" fontAlgn="auto" latinLnBrk="0" hangingPunct="1">
              <a:lnSpc>
                <a:spcPts val="3640"/>
              </a:lnSpc>
              <a:spcBef>
                <a:spcPts val="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srgbClr val="FFFFFF"/>
                </a:solidFill>
                <a:effectLst/>
                <a:uLnTx/>
                <a:uFillTx/>
                <a:latin typeface="Telegraf"/>
                <a:ea typeface="Telegraf"/>
                <a:cs typeface="Telegraf"/>
                <a:sym typeface="Telegraf"/>
              </a:rPr>
              <a:t>Performs poorly with correlated features</a:t>
            </a:r>
          </a:p>
          <a:p>
            <a:pPr marL="0" marR="0" lvl="0" indent="0" algn="just" defTabSz="914400" rtl="0" eaLnBrk="1" fontAlgn="auto" latinLnBrk="0" hangingPunct="1">
              <a:lnSpc>
                <a:spcPts val="3640"/>
              </a:lnSpc>
              <a:spcBef>
                <a:spcPts val="0"/>
              </a:spcBef>
              <a:spcAft>
                <a:spcPts val="0"/>
              </a:spcAft>
              <a:buClrTx/>
              <a:buSzTx/>
              <a:buFontTx/>
              <a:buNone/>
              <a:tabLst/>
              <a:defRPr/>
            </a:pPr>
            <a:endParaRPr kumimoji="0" lang="en-US" sz="2500" b="0" i="0" u="none" strike="noStrike" kern="1200" cap="none" spc="0" normalizeH="0" baseline="0" noProof="0" dirty="0">
              <a:ln>
                <a:noFill/>
              </a:ln>
              <a:solidFill>
                <a:srgbClr val="FFFFFF"/>
              </a:solidFill>
              <a:effectLst/>
              <a:uLnTx/>
              <a:uFillTx/>
              <a:latin typeface="Telegraf"/>
              <a:ea typeface="Telegraf"/>
              <a:cs typeface="Telegraf"/>
              <a:sym typeface="Telegraf"/>
            </a:endParaRPr>
          </a:p>
          <a:p>
            <a:pPr algn="just">
              <a:lnSpc>
                <a:spcPts val="3640"/>
              </a:lnSpc>
              <a:buClrTx/>
            </a:pPr>
            <a:r>
              <a:rPr lang="en-US" sz="2500" b="1" kern="1200" dirty="0">
                <a:solidFill>
                  <a:schemeClr val="accent5"/>
                </a:solidFill>
                <a:latin typeface="Telegraf"/>
                <a:ea typeface="Telegraf"/>
                <a:cs typeface="Telegraf"/>
                <a:sym typeface="Telegraf"/>
              </a:rPr>
              <a:t>Naive Bayes </a:t>
            </a:r>
            <a:r>
              <a:rPr lang="en-US" sz="2500" kern="1200" dirty="0">
                <a:solidFill>
                  <a:srgbClr val="FFFFFF"/>
                </a:solidFill>
                <a:latin typeface="Telegraf"/>
                <a:ea typeface="Telegraf"/>
                <a:cs typeface="Telegraf"/>
                <a:sym typeface="Telegraf"/>
              </a:rPr>
              <a:t>has the lowest accuracy (40–77%) </a:t>
            </a:r>
          </a:p>
        </p:txBody>
      </p:sp>
      <p:grpSp>
        <p:nvGrpSpPr>
          <p:cNvPr id="6" name="Group 6"/>
          <p:cNvGrpSpPr/>
          <p:nvPr/>
        </p:nvGrpSpPr>
        <p:grpSpPr>
          <a:xfrm>
            <a:off x="0" y="3718679"/>
            <a:ext cx="18288000" cy="2849643"/>
            <a:chOff x="0" y="0"/>
            <a:chExt cx="24384000" cy="3799523"/>
          </a:xfrm>
        </p:grpSpPr>
        <p:pic>
          <p:nvPicPr>
            <p:cNvPr id="7" name="Picture 7"/>
            <p:cNvPicPr>
              <a:picLocks noChangeAspect="1"/>
            </p:cNvPicPr>
            <p:nvPr/>
          </p:nvPicPr>
          <p:blipFill>
            <a:blip r:embed="rId3"/>
            <a:srcRect t="39983" b="39983"/>
            <a:stretch/>
          </p:blipFill>
          <p:spPr>
            <a:xfrm>
              <a:off x="0" y="0"/>
              <a:ext cx="24384000" cy="3799523"/>
            </a:xfrm>
            <a:prstGeom prst="rect">
              <a:avLst/>
            </a:prstGeom>
          </p:spPr>
        </p:pic>
      </p:grpSp>
      <p:sp>
        <p:nvSpPr>
          <p:cNvPr id="8" name="TextBox 9">
            <a:extLst>
              <a:ext uri="{FF2B5EF4-FFF2-40B4-BE49-F238E27FC236}">
                <a16:creationId xmlns:a16="http://schemas.microsoft.com/office/drawing/2014/main" id="{3B710366-3148-ED4B-53B9-D835A886DAE9}"/>
              </a:ext>
            </a:extLst>
          </p:cNvPr>
          <p:cNvSpPr txBox="1"/>
          <p:nvPr/>
        </p:nvSpPr>
        <p:spPr>
          <a:xfrm>
            <a:off x="5906271" y="617606"/>
            <a:ext cx="10467869" cy="2094804"/>
          </a:xfrm>
          <a:prstGeom prst="rect">
            <a:avLst/>
          </a:prstGeom>
        </p:spPr>
        <p:txBody>
          <a:bodyPr wrap="square" lIns="0" tIns="0" rIns="0" bIns="0" rtlCol="0" anchor="t">
            <a:spAutoFit/>
          </a:bodyPr>
          <a:lstStyle/>
          <a:p>
            <a:pPr marL="457200" lvl="0" indent="-457200">
              <a:lnSpc>
                <a:spcPts val="3299"/>
              </a:lnSpc>
              <a:buClr>
                <a:schemeClr val="bg1"/>
              </a:buClr>
              <a:buFont typeface="Arial" panose="020B0604020202020204" pitchFamily="34" charset="0"/>
              <a:buChar char="•"/>
              <a:defRPr/>
            </a:pPr>
            <a:r>
              <a:rPr kumimoji="0" lang="en-US" sz="2500" b="0" i="0" u="none" strike="noStrike" kern="1200" cap="none" spc="0" normalizeH="0" baseline="0" noProof="0" dirty="0">
                <a:ln>
                  <a:noFill/>
                </a:ln>
                <a:solidFill>
                  <a:schemeClr val="bg1"/>
                </a:solidFill>
                <a:effectLst/>
                <a:uLnTx/>
                <a:uFillTx/>
                <a:latin typeface="Telegraf"/>
                <a:ea typeface="Telegraf"/>
                <a:cs typeface="Telegraf"/>
                <a:sym typeface="Telegraf"/>
              </a:rPr>
              <a:t>L1 cleans up the dataset by keeping only important features.</a:t>
            </a:r>
          </a:p>
          <a:p>
            <a:pPr marL="457200" lvl="0" indent="-457200">
              <a:lnSpc>
                <a:spcPts val="3299"/>
              </a:lnSpc>
              <a:buClr>
                <a:schemeClr val="bg1"/>
              </a:buClr>
              <a:buFont typeface="Arial" panose="020B0604020202020204" pitchFamily="34" charset="0"/>
              <a:buChar char="•"/>
              <a:defRPr/>
            </a:pPr>
            <a:r>
              <a:rPr kumimoji="0" lang="en-US" sz="2500" b="1" i="0" u="none" strike="noStrike" kern="1200" cap="none" spc="0" normalizeH="0" baseline="0" noProof="0" dirty="0">
                <a:ln>
                  <a:noFill/>
                </a:ln>
                <a:solidFill>
                  <a:schemeClr val="accent5"/>
                </a:solidFill>
                <a:effectLst/>
                <a:uLnTx/>
                <a:uFillTx/>
                <a:latin typeface="Telegraf"/>
                <a:ea typeface="Telegraf"/>
                <a:cs typeface="Telegraf"/>
                <a:sym typeface="Telegraf"/>
              </a:rPr>
              <a:t>Random Forest </a:t>
            </a:r>
            <a:r>
              <a:rPr kumimoji="0" lang="en-US" sz="2500" b="0" i="0" u="none" strike="noStrike" kern="1200" cap="none" spc="0" normalizeH="0" baseline="0" noProof="0" dirty="0">
                <a:ln>
                  <a:noFill/>
                </a:ln>
                <a:solidFill>
                  <a:schemeClr val="bg1"/>
                </a:solidFill>
                <a:effectLst/>
                <a:uLnTx/>
                <a:uFillTx/>
                <a:latin typeface="Telegraf"/>
                <a:ea typeface="Telegraf"/>
                <a:cs typeface="Telegraf"/>
                <a:sym typeface="Telegraf"/>
              </a:rPr>
              <a:t>then uses those clean features to learn strong patterns.</a:t>
            </a:r>
          </a:p>
          <a:p>
            <a:pPr lvl="0">
              <a:lnSpc>
                <a:spcPts val="3299"/>
              </a:lnSpc>
              <a:buClr>
                <a:schemeClr val="bg1"/>
              </a:buClr>
              <a:defRPr/>
            </a:pPr>
            <a:endParaRPr kumimoji="0" lang="en-US" sz="2500" b="0" i="0" u="none" strike="noStrike" kern="1200" cap="none" spc="0" normalizeH="0" baseline="0" noProof="0" dirty="0">
              <a:ln>
                <a:noFill/>
              </a:ln>
              <a:solidFill>
                <a:schemeClr val="bg1"/>
              </a:solidFill>
              <a:effectLst/>
              <a:uLnTx/>
              <a:uFillTx/>
              <a:latin typeface="Telegraf"/>
              <a:ea typeface="Telegraf"/>
              <a:cs typeface="Telegraf"/>
              <a:sym typeface="Telegraf"/>
            </a:endParaRPr>
          </a:p>
          <a:p>
            <a:pPr lvl="0">
              <a:lnSpc>
                <a:spcPts val="3299"/>
              </a:lnSpc>
              <a:buClr>
                <a:schemeClr val="bg1"/>
              </a:buClr>
              <a:defRPr/>
            </a:pPr>
            <a:r>
              <a:rPr kumimoji="0" lang="en-US" sz="2500" b="0" i="0" u="none" strike="noStrike" kern="1200" cap="none" spc="0" normalizeH="0" baseline="0" noProof="0" dirty="0">
                <a:ln>
                  <a:noFill/>
                </a:ln>
                <a:solidFill>
                  <a:schemeClr val="bg1"/>
                </a:solidFill>
                <a:effectLst/>
                <a:uLnTx/>
                <a:uFillTx/>
                <a:latin typeface="Telegraf"/>
                <a:ea typeface="Telegraf"/>
                <a:cs typeface="Telegraf"/>
                <a:sym typeface="Telegraf"/>
              </a:rPr>
              <a:t>The two together avoid noise, reduce overfitting, and produce the most accurate predictions.</a:t>
            </a:r>
          </a:p>
        </p:txBody>
      </p:sp>
      <p:sp>
        <p:nvSpPr>
          <p:cNvPr id="10" name="Rectangle 9">
            <a:extLst>
              <a:ext uri="{FF2B5EF4-FFF2-40B4-BE49-F238E27FC236}">
                <a16:creationId xmlns:a16="http://schemas.microsoft.com/office/drawing/2014/main" id="{AFC7F4EE-E805-8D82-68E2-66E1EDB183C8}"/>
              </a:ext>
            </a:extLst>
          </p:cNvPr>
          <p:cNvSpPr/>
          <p:nvPr/>
        </p:nvSpPr>
        <p:spPr>
          <a:xfrm>
            <a:off x="0" y="3718679"/>
            <a:ext cx="18288000" cy="2849643"/>
          </a:xfrm>
          <a:prstGeom prst="rect">
            <a:avLst/>
          </a:prstGeom>
          <a:solidFill>
            <a:schemeClr val="tx1">
              <a:alpha val="24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DA530DC-3475-C930-6F9C-AF82976879F8}"/>
              </a:ext>
            </a:extLst>
          </p:cNvPr>
          <p:cNvSpPr txBox="1"/>
          <p:nvPr/>
        </p:nvSpPr>
        <p:spPr>
          <a:xfrm>
            <a:off x="4727406" y="3872838"/>
            <a:ext cx="8833187" cy="2349058"/>
          </a:xfrm>
          <a:prstGeom prst="rect">
            <a:avLst/>
          </a:prstGeom>
          <a:noFill/>
          <a:ln w="28575">
            <a:noFill/>
          </a:ln>
        </p:spPr>
        <p:txBody>
          <a:bodyPr vert="wordArtVert"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1200" normalizeH="0" baseline="0" noProof="0" dirty="0">
                <a:ln w="10160">
                  <a:solidFill>
                    <a:schemeClr val="bg1"/>
                  </a:solidFill>
                  <a:prstDash val="solid"/>
                </a:ln>
                <a:solidFill>
                  <a:srgbClr val="FFFFFF"/>
                </a:solidFill>
                <a:effectLst>
                  <a:outerShdw blurRad="38100" dist="22860" dir="5400000" algn="tl" rotWithShape="0">
                    <a:srgbClr val="000000">
                      <a:alpha val="30000"/>
                    </a:srgbClr>
                  </a:outerShdw>
                </a:effectLst>
                <a:uLnTx/>
                <a:uFillTx/>
                <a:latin typeface="Anton"/>
                <a:ea typeface="Anton"/>
                <a:cs typeface="Anton"/>
                <a:sym typeface="Anton"/>
              </a:rPr>
              <a:t>WHY?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2"/>
          <p:cNvSpPr txBox="1"/>
          <p:nvPr/>
        </p:nvSpPr>
        <p:spPr>
          <a:xfrm>
            <a:off x="1028700" y="5117293"/>
            <a:ext cx="4986760" cy="1167948"/>
          </a:xfrm>
          <a:prstGeom prst="rect">
            <a:avLst/>
          </a:prstGeom>
        </p:spPr>
        <p:txBody>
          <a:bodyPr lIns="0" tIns="0" rIns="0" bIns="0" rtlCol="0" anchor="t">
            <a:spAutoFit/>
          </a:bodyPr>
          <a:lstStyle/>
          <a:p>
            <a:pPr marL="0" marR="0" lvl="0" indent="0" algn="l" defTabSz="914400" rtl="0" eaLnBrk="1" fontAlgn="auto" latinLnBrk="0" hangingPunct="1">
              <a:lnSpc>
                <a:spcPts val="3089"/>
              </a:lnSpc>
              <a:spcBef>
                <a:spcPts val="0"/>
              </a:spcBef>
              <a:spcAft>
                <a:spcPts val="0"/>
              </a:spcAft>
              <a:buClrTx/>
              <a:buSzTx/>
              <a:buFontTx/>
              <a:buNone/>
              <a:tabLst/>
              <a:defRPr/>
            </a:pPr>
            <a:r>
              <a:rPr kumimoji="0" lang="en-US" sz="2207" b="0" i="0" u="none" strike="noStrike" kern="1200" cap="none" spc="57" normalizeH="0" baseline="0" noProof="0" dirty="0">
                <a:ln>
                  <a:noFill/>
                </a:ln>
                <a:solidFill>
                  <a:srgbClr val="000000"/>
                </a:solidFill>
                <a:effectLst/>
                <a:uLnTx/>
                <a:uFillTx/>
                <a:latin typeface="Telegraf"/>
                <a:ea typeface="Telegraf"/>
                <a:cs typeface="Telegraf"/>
                <a:sym typeface="Telegraf"/>
              </a:rPr>
              <a:t>Developed a full ML pipeline for hotel cancellation prediction that is ready for real operational use.</a:t>
            </a:r>
          </a:p>
        </p:txBody>
      </p:sp>
      <p:sp>
        <p:nvSpPr>
          <p:cNvPr id="3" name="TextBox 3"/>
          <p:cNvSpPr txBox="1"/>
          <p:nvPr/>
        </p:nvSpPr>
        <p:spPr>
          <a:xfrm>
            <a:off x="11859658" y="5117293"/>
            <a:ext cx="5044618" cy="770404"/>
          </a:xfrm>
          <a:prstGeom prst="rect">
            <a:avLst/>
          </a:prstGeom>
        </p:spPr>
        <p:txBody>
          <a:bodyPr lIns="0" tIns="0" rIns="0" bIns="0" rtlCol="0" anchor="t">
            <a:spAutoFit/>
          </a:bodyPr>
          <a:lstStyle/>
          <a:p>
            <a:pPr>
              <a:lnSpc>
                <a:spcPts val="3089"/>
              </a:lnSpc>
              <a:buClrTx/>
            </a:pPr>
            <a:r>
              <a:rPr kumimoji="0" lang="en-US" sz="2207" b="0" i="0" u="none" strike="noStrike" kern="1200" cap="none" spc="57" normalizeH="0" baseline="0" noProof="0" dirty="0">
                <a:ln>
                  <a:noFill/>
                </a:ln>
                <a:solidFill>
                  <a:srgbClr val="000000"/>
                </a:solidFill>
                <a:effectLst/>
                <a:uLnTx/>
                <a:uFillTx/>
                <a:latin typeface="Telegraf"/>
                <a:ea typeface="Telegraf"/>
                <a:cs typeface="Telegraf"/>
                <a:sym typeface="Telegraf"/>
              </a:rPr>
              <a:t>Lead time, Average price per room, Number of special requests.</a:t>
            </a:r>
          </a:p>
        </p:txBody>
      </p:sp>
      <p:sp>
        <p:nvSpPr>
          <p:cNvPr id="4" name="TextBox 4"/>
          <p:cNvSpPr txBox="1"/>
          <p:nvPr/>
        </p:nvSpPr>
        <p:spPr>
          <a:xfrm>
            <a:off x="1028700" y="4412331"/>
            <a:ext cx="3568265" cy="495300"/>
          </a:xfrm>
          <a:prstGeom prst="rect">
            <a:avLst/>
          </a:prstGeom>
        </p:spPr>
        <p:txBody>
          <a:bodyPr lIns="0" tIns="0" rIns="0" bIns="0" rtlCol="0" anchor="t">
            <a:spAutoFit/>
          </a:bodyPr>
          <a:lstStyle/>
          <a:p>
            <a:pPr marL="0" marR="0" lvl="0" indent="0" algn="l" defTabSz="914400" rtl="0" eaLnBrk="1" fontAlgn="auto" latinLnBrk="0" hangingPunct="1">
              <a:lnSpc>
                <a:spcPts val="3959"/>
              </a:lnSpc>
              <a:spcBef>
                <a:spcPts val="0"/>
              </a:spcBef>
              <a:spcAft>
                <a:spcPts val="0"/>
              </a:spcAft>
              <a:buClrTx/>
              <a:buSzTx/>
              <a:buFontTx/>
              <a:buNone/>
              <a:tabLst/>
              <a:defRPr/>
            </a:pPr>
            <a:r>
              <a:rPr kumimoji="0" lang="en-US" sz="3299" b="1" i="0" u="none" strike="noStrike" kern="1200" cap="none" spc="0" normalizeH="0" baseline="0" noProof="0" dirty="0">
                <a:ln>
                  <a:noFill/>
                </a:ln>
                <a:solidFill>
                  <a:schemeClr val="tx1"/>
                </a:solidFill>
                <a:effectLst/>
                <a:uLnTx/>
                <a:uFillTx/>
                <a:latin typeface="DM Sans Bold"/>
                <a:ea typeface="DM Sans Bold"/>
                <a:cs typeface="DM Sans Bold"/>
                <a:sym typeface="DM Sans Bold"/>
              </a:rPr>
              <a:t>Deployment</a:t>
            </a:r>
          </a:p>
        </p:txBody>
      </p:sp>
      <p:sp>
        <p:nvSpPr>
          <p:cNvPr id="5" name="TextBox 5"/>
          <p:cNvSpPr txBox="1"/>
          <p:nvPr/>
        </p:nvSpPr>
        <p:spPr>
          <a:xfrm>
            <a:off x="6444273" y="5117293"/>
            <a:ext cx="4986760" cy="770404"/>
          </a:xfrm>
          <a:prstGeom prst="rect">
            <a:avLst/>
          </a:prstGeom>
        </p:spPr>
        <p:txBody>
          <a:bodyPr lIns="0" tIns="0" rIns="0" bIns="0" rtlCol="0" anchor="t">
            <a:spAutoFit/>
          </a:bodyPr>
          <a:lstStyle/>
          <a:p>
            <a:pPr>
              <a:lnSpc>
                <a:spcPts val="3089"/>
              </a:lnSpc>
              <a:buClrTx/>
            </a:pPr>
            <a:r>
              <a:rPr kumimoji="0" lang="en-US" sz="2207" b="0" i="0" u="none" strike="noStrike" kern="1200" cap="none" spc="57" normalizeH="0" baseline="0" noProof="0" dirty="0">
                <a:ln>
                  <a:noFill/>
                </a:ln>
                <a:solidFill>
                  <a:srgbClr val="000000"/>
                </a:solidFill>
                <a:effectLst/>
                <a:uLnTx/>
                <a:uFillTx/>
                <a:latin typeface="Telegraf"/>
                <a:ea typeface="Telegraf"/>
                <a:cs typeface="Telegraf"/>
                <a:sym typeface="Telegraf"/>
              </a:rPr>
              <a:t>Random Forest + L1 Selection -&gt; 90.10% accuracy.</a:t>
            </a:r>
          </a:p>
        </p:txBody>
      </p:sp>
      <p:sp>
        <p:nvSpPr>
          <p:cNvPr id="6" name="TextBox 6"/>
          <p:cNvSpPr txBox="1"/>
          <p:nvPr/>
        </p:nvSpPr>
        <p:spPr>
          <a:xfrm>
            <a:off x="6444273" y="4412331"/>
            <a:ext cx="3568265" cy="495300"/>
          </a:xfrm>
          <a:prstGeom prst="rect">
            <a:avLst/>
          </a:prstGeom>
        </p:spPr>
        <p:txBody>
          <a:bodyPr lIns="0" tIns="0" rIns="0" bIns="0" rtlCol="0" anchor="t">
            <a:spAutoFit/>
          </a:bodyPr>
          <a:lstStyle/>
          <a:p>
            <a:pPr marL="0" marR="0" lvl="0" indent="0" algn="l" defTabSz="914400" rtl="0" eaLnBrk="1" fontAlgn="auto" latinLnBrk="0" hangingPunct="1">
              <a:lnSpc>
                <a:spcPts val="3959"/>
              </a:lnSpc>
              <a:spcBef>
                <a:spcPts val="0"/>
              </a:spcBef>
              <a:spcAft>
                <a:spcPts val="0"/>
              </a:spcAft>
              <a:buClrTx/>
              <a:buSzTx/>
              <a:buFontTx/>
              <a:buNone/>
              <a:tabLst/>
              <a:defRPr/>
            </a:pPr>
            <a:r>
              <a:rPr kumimoji="0" lang="en-US" sz="3299" b="1" i="0" u="none" strike="noStrike" kern="1200" cap="none" spc="0" normalizeH="0" baseline="0" noProof="0" dirty="0">
                <a:ln>
                  <a:noFill/>
                </a:ln>
                <a:solidFill>
                  <a:schemeClr val="tx1"/>
                </a:solidFill>
                <a:effectLst/>
                <a:uLnTx/>
                <a:uFillTx/>
                <a:latin typeface="DM Sans Bold"/>
                <a:ea typeface="DM Sans Bold"/>
                <a:cs typeface="DM Sans Bold"/>
                <a:sym typeface="DM Sans Bold"/>
              </a:rPr>
              <a:t>Best Model</a:t>
            </a:r>
          </a:p>
        </p:txBody>
      </p:sp>
      <p:sp>
        <p:nvSpPr>
          <p:cNvPr id="7" name="TextBox 7"/>
          <p:cNvSpPr txBox="1"/>
          <p:nvPr/>
        </p:nvSpPr>
        <p:spPr>
          <a:xfrm>
            <a:off x="11859658" y="4412331"/>
            <a:ext cx="3568265" cy="495300"/>
          </a:xfrm>
          <a:prstGeom prst="rect">
            <a:avLst/>
          </a:prstGeom>
        </p:spPr>
        <p:txBody>
          <a:bodyPr lIns="0" tIns="0" rIns="0" bIns="0" rtlCol="0" anchor="t">
            <a:spAutoFit/>
          </a:bodyPr>
          <a:lstStyle/>
          <a:p>
            <a:pPr marL="0" marR="0" lvl="0" indent="0" algn="l" defTabSz="914400" rtl="0" eaLnBrk="1" fontAlgn="auto" latinLnBrk="0" hangingPunct="1">
              <a:lnSpc>
                <a:spcPts val="3959"/>
              </a:lnSpc>
              <a:spcBef>
                <a:spcPts val="0"/>
              </a:spcBef>
              <a:spcAft>
                <a:spcPts val="0"/>
              </a:spcAft>
              <a:buClrTx/>
              <a:buSzTx/>
              <a:buFontTx/>
              <a:buNone/>
              <a:tabLst/>
              <a:defRPr/>
            </a:pPr>
            <a:r>
              <a:rPr kumimoji="0" lang="en-US" sz="3299" b="1" i="0" u="none" strike="noStrike" kern="1200" cap="none" spc="0" normalizeH="0" baseline="0" noProof="0" dirty="0">
                <a:ln>
                  <a:noFill/>
                </a:ln>
                <a:solidFill>
                  <a:schemeClr val="tx1"/>
                </a:solidFill>
                <a:effectLst/>
                <a:uLnTx/>
                <a:uFillTx/>
                <a:latin typeface="DM Sans Bold"/>
                <a:ea typeface="DM Sans Bold"/>
                <a:cs typeface="DM Sans Bold"/>
                <a:sym typeface="DM Sans Bold"/>
              </a:rPr>
              <a:t>Key Drivers</a:t>
            </a:r>
          </a:p>
        </p:txBody>
      </p:sp>
      <p:grpSp>
        <p:nvGrpSpPr>
          <p:cNvPr id="8" name="Group 8"/>
          <p:cNvGrpSpPr/>
          <p:nvPr/>
        </p:nvGrpSpPr>
        <p:grpSpPr>
          <a:xfrm>
            <a:off x="1028700" y="6942745"/>
            <a:ext cx="16230600" cy="2315555"/>
            <a:chOff x="0" y="0"/>
            <a:chExt cx="21640800" cy="3087407"/>
          </a:xfrm>
        </p:grpSpPr>
        <p:pic>
          <p:nvPicPr>
            <p:cNvPr id="9" name="Picture 9"/>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Lst>
            </a:blip>
            <a:srcRect t="40829" b="40829"/>
            <a:stretch/>
          </p:blipFill>
          <p:spPr>
            <a:xfrm>
              <a:off x="0" y="0"/>
              <a:ext cx="21640800" cy="3087407"/>
            </a:xfrm>
            <a:prstGeom prst="rect">
              <a:avLst/>
            </a:prstGeom>
          </p:spPr>
        </p:pic>
      </p:grpSp>
      <p:sp>
        <p:nvSpPr>
          <p:cNvPr id="10" name="TextBox 10"/>
          <p:cNvSpPr txBox="1"/>
          <p:nvPr/>
        </p:nvSpPr>
        <p:spPr>
          <a:xfrm>
            <a:off x="1028700" y="1245830"/>
            <a:ext cx="11579061" cy="1644015"/>
          </a:xfrm>
          <a:prstGeom prst="rect">
            <a:avLst/>
          </a:prstGeom>
        </p:spPr>
        <p:txBody>
          <a:bodyPr lIns="0" tIns="0" rIns="0" bIns="0" rtlCol="0" anchor="t">
            <a:spAutoFit/>
          </a:bodyPr>
          <a:lstStyle/>
          <a:p>
            <a:pPr marL="0" marR="0" lvl="0" indent="0" algn="l" defTabSz="914400" rtl="0" eaLnBrk="1" fontAlgn="auto" latinLnBrk="0" hangingPunct="1">
              <a:lnSpc>
                <a:spcPts val="12480"/>
              </a:lnSpc>
              <a:spcBef>
                <a:spcPct val="0"/>
              </a:spcBef>
              <a:spcAft>
                <a:spcPts val="0"/>
              </a:spcAft>
              <a:buClrTx/>
              <a:buSzTx/>
              <a:buFontTx/>
              <a:buNone/>
              <a:tabLst/>
              <a:defRPr/>
            </a:pPr>
            <a:r>
              <a:rPr kumimoji="0" lang="en-US" sz="12000" b="0" i="0" u="none" strike="noStrike" kern="1200" cap="none" spc="0" normalizeH="0" baseline="0" noProof="0" dirty="0">
                <a:ln>
                  <a:noFill/>
                </a:ln>
                <a:solidFill>
                  <a:schemeClr val="accent5"/>
                </a:solidFill>
                <a:effectLst/>
                <a:uLnTx/>
                <a:uFillTx/>
                <a:latin typeface="Anton"/>
                <a:ea typeface="Anton"/>
                <a:cs typeface="Anton"/>
                <a:sym typeface="Anton"/>
              </a:rPr>
              <a:t>CONCLUSION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1326091"/>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8277" t="-35458" r="-8277" b="-2334"/>
            </a:stretch>
          </a:blipFill>
        </p:spPr>
        <p:txBody>
          <a:bodyPr/>
          <a:lstStyle/>
          <a:p>
            <a:endParaRPr lang="en-US"/>
          </a:p>
        </p:txBody>
      </p:sp>
      <p:grpSp>
        <p:nvGrpSpPr>
          <p:cNvPr id="3" name="Group 3"/>
          <p:cNvGrpSpPr/>
          <p:nvPr/>
        </p:nvGrpSpPr>
        <p:grpSpPr>
          <a:xfrm>
            <a:off x="0" y="0"/>
            <a:ext cx="18288000" cy="10287000"/>
            <a:chOff x="0" y="0"/>
            <a:chExt cx="6671512" cy="3752725"/>
          </a:xfrm>
        </p:grpSpPr>
        <p:sp>
          <p:nvSpPr>
            <p:cNvPr id="4" name="Freeform 4"/>
            <p:cNvSpPr/>
            <p:nvPr/>
          </p:nvSpPr>
          <p:spPr>
            <a:xfrm>
              <a:off x="0" y="0"/>
              <a:ext cx="6671512" cy="3752726"/>
            </a:xfrm>
            <a:custGeom>
              <a:avLst/>
              <a:gdLst/>
              <a:ahLst/>
              <a:cxnLst/>
              <a:rect l="l" t="t" r="r" b="b"/>
              <a:pathLst>
                <a:path w="6671512" h="3752726">
                  <a:moveTo>
                    <a:pt x="0" y="0"/>
                  </a:moveTo>
                  <a:lnTo>
                    <a:pt x="6671512" y="0"/>
                  </a:lnTo>
                  <a:lnTo>
                    <a:pt x="6671512" y="3752726"/>
                  </a:lnTo>
                  <a:lnTo>
                    <a:pt x="0" y="3752726"/>
                  </a:lnTo>
                  <a:close/>
                </a:path>
              </a:pathLst>
            </a:custGeom>
            <a:solidFill>
              <a:srgbClr val="000000">
                <a:alpha val="49804"/>
              </a:srgbClr>
            </a:solidFill>
          </p:spPr>
          <p:txBody>
            <a:bodyPr/>
            <a:lstStyle/>
            <a:p>
              <a:endParaRPr lang="en-US"/>
            </a:p>
          </p:txBody>
        </p:sp>
      </p:grpSp>
      <p:grpSp>
        <p:nvGrpSpPr>
          <p:cNvPr id="5" name="Group 5"/>
          <p:cNvGrpSpPr/>
          <p:nvPr/>
        </p:nvGrpSpPr>
        <p:grpSpPr>
          <a:xfrm>
            <a:off x="2735887" y="2194124"/>
            <a:ext cx="12816226" cy="5898751"/>
            <a:chOff x="0" y="0"/>
            <a:chExt cx="4675394" cy="2151881"/>
          </a:xfrm>
        </p:grpSpPr>
        <p:sp>
          <p:nvSpPr>
            <p:cNvPr id="6" name="Freeform 6"/>
            <p:cNvSpPr/>
            <p:nvPr/>
          </p:nvSpPr>
          <p:spPr>
            <a:xfrm>
              <a:off x="0" y="0"/>
              <a:ext cx="4675394" cy="2151880"/>
            </a:xfrm>
            <a:custGeom>
              <a:avLst/>
              <a:gdLst/>
              <a:ahLst/>
              <a:cxnLst/>
              <a:rect l="l" t="t" r="r" b="b"/>
              <a:pathLst>
                <a:path w="4675394" h="2151880">
                  <a:moveTo>
                    <a:pt x="0" y="0"/>
                  </a:moveTo>
                  <a:lnTo>
                    <a:pt x="4675394" y="0"/>
                  </a:lnTo>
                  <a:lnTo>
                    <a:pt x="4675394" y="2151880"/>
                  </a:lnTo>
                  <a:lnTo>
                    <a:pt x="0" y="2151880"/>
                  </a:lnTo>
                  <a:close/>
                </a:path>
              </a:pathLst>
            </a:custGeom>
            <a:solidFill>
              <a:schemeClr val="bg1">
                <a:lumMod val="95000"/>
              </a:schemeClr>
            </a:solidFill>
          </p:spPr>
          <p:txBody>
            <a:bodyPr/>
            <a:lstStyle/>
            <a:p>
              <a:endParaRPr lang="en-US"/>
            </a:p>
          </p:txBody>
        </p:sp>
      </p:grpSp>
      <p:sp>
        <p:nvSpPr>
          <p:cNvPr id="7" name="TextBox 7"/>
          <p:cNvSpPr txBox="1"/>
          <p:nvPr/>
        </p:nvSpPr>
        <p:spPr>
          <a:xfrm>
            <a:off x="3759185" y="3315278"/>
            <a:ext cx="10769630" cy="3599383"/>
          </a:xfrm>
          <a:prstGeom prst="rect">
            <a:avLst/>
          </a:prstGeom>
        </p:spPr>
        <p:txBody>
          <a:bodyPr lIns="0" tIns="0" rIns="0" bIns="0" rtlCol="0" anchor="t">
            <a:spAutoFit/>
          </a:bodyPr>
          <a:lstStyle/>
          <a:p>
            <a:pPr algn="ctr">
              <a:lnSpc>
                <a:spcPts val="7149"/>
              </a:lnSpc>
            </a:pPr>
            <a:r>
              <a:rPr lang="en-US" sz="5500" dirty="0">
                <a:solidFill>
                  <a:schemeClr val="tx1"/>
                </a:solidFill>
                <a:latin typeface="Anton"/>
                <a:ea typeface="Anton"/>
                <a:cs typeface="Anton"/>
                <a:sym typeface="Anton"/>
              </a:rPr>
              <a:t>“How feature engineering and feature selection have a huge impact on accuracy.”</a:t>
            </a:r>
          </a:p>
          <a:p>
            <a:pPr algn="ctr">
              <a:lnSpc>
                <a:spcPts val="7149"/>
              </a:lnSpc>
            </a:pPr>
            <a:endParaRPr lang="en-US" sz="5499" dirty="0">
              <a:solidFill>
                <a:srgbClr val="9B7D4C"/>
              </a:solidFill>
              <a:latin typeface="Anton"/>
              <a:ea typeface="Anton"/>
              <a:cs typeface="Anton"/>
              <a:sym typeface="Anton"/>
            </a:endParaRPr>
          </a:p>
        </p:txBody>
      </p:sp>
      <p:sp>
        <p:nvSpPr>
          <p:cNvPr id="8" name="TextBox 8"/>
          <p:cNvSpPr txBox="1"/>
          <p:nvPr/>
        </p:nvSpPr>
        <p:spPr>
          <a:xfrm>
            <a:off x="4412904" y="6279572"/>
            <a:ext cx="9462192" cy="589777"/>
          </a:xfrm>
          <a:prstGeom prst="rect">
            <a:avLst/>
          </a:prstGeom>
        </p:spPr>
        <p:txBody>
          <a:bodyPr lIns="0" tIns="0" rIns="0" bIns="0" rtlCol="0" anchor="t">
            <a:spAutoFit/>
          </a:bodyPr>
          <a:lstStyle/>
          <a:p>
            <a:pPr algn="ctr">
              <a:lnSpc>
                <a:spcPts val="4900"/>
              </a:lnSpc>
            </a:pPr>
            <a:r>
              <a:rPr lang="en-US" sz="3500" b="1" dirty="0">
                <a:solidFill>
                  <a:schemeClr val="accent5"/>
                </a:solidFill>
                <a:latin typeface="Telegraf Bold"/>
                <a:ea typeface="Telegraf Bold"/>
                <a:cs typeface="Telegraf Bold"/>
                <a:sym typeface="Telegraf Bold"/>
              </a:rPr>
              <a:t>-LEARNINGS-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D2F4D-CB23-F64C-3305-016DCEBBDF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E03FD0-509D-E28E-EEFB-8B6148E3F21D}"/>
              </a:ext>
            </a:extLst>
          </p:cNvPr>
          <p:cNvSpPr/>
          <p:nvPr/>
        </p:nvSpPr>
        <p:spPr>
          <a:xfrm>
            <a:off x="0" y="0"/>
            <a:ext cx="18288000" cy="11326091"/>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8277" t="-35458" r="-8277" b="-2334"/>
            </a:stretch>
          </a:blipFill>
        </p:spPr>
        <p:txBody>
          <a:bodyPr/>
          <a:lstStyle/>
          <a:p>
            <a:endParaRPr lang="en-US"/>
          </a:p>
        </p:txBody>
      </p:sp>
      <p:grpSp>
        <p:nvGrpSpPr>
          <p:cNvPr id="3" name="Group 3">
            <a:extLst>
              <a:ext uri="{FF2B5EF4-FFF2-40B4-BE49-F238E27FC236}">
                <a16:creationId xmlns:a16="http://schemas.microsoft.com/office/drawing/2014/main" id="{A806C482-C6D6-CA93-48E0-658CE7D1A04C}"/>
              </a:ext>
            </a:extLst>
          </p:cNvPr>
          <p:cNvGrpSpPr/>
          <p:nvPr/>
        </p:nvGrpSpPr>
        <p:grpSpPr>
          <a:xfrm>
            <a:off x="0" y="0"/>
            <a:ext cx="18288000" cy="10287000"/>
            <a:chOff x="0" y="0"/>
            <a:chExt cx="6671512" cy="3752725"/>
          </a:xfrm>
        </p:grpSpPr>
        <p:sp>
          <p:nvSpPr>
            <p:cNvPr id="4" name="Freeform 4">
              <a:extLst>
                <a:ext uri="{FF2B5EF4-FFF2-40B4-BE49-F238E27FC236}">
                  <a16:creationId xmlns:a16="http://schemas.microsoft.com/office/drawing/2014/main" id="{A6E751D1-7866-1980-43F2-DAB750BC511A}"/>
                </a:ext>
              </a:extLst>
            </p:cNvPr>
            <p:cNvSpPr/>
            <p:nvPr/>
          </p:nvSpPr>
          <p:spPr>
            <a:xfrm>
              <a:off x="0" y="0"/>
              <a:ext cx="6671512" cy="3752726"/>
            </a:xfrm>
            <a:custGeom>
              <a:avLst/>
              <a:gdLst/>
              <a:ahLst/>
              <a:cxnLst/>
              <a:rect l="l" t="t" r="r" b="b"/>
              <a:pathLst>
                <a:path w="6671512" h="3752726">
                  <a:moveTo>
                    <a:pt x="0" y="0"/>
                  </a:moveTo>
                  <a:lnTo>
                    <a:pt x="6671512" y="0"/>
                  </a:lnTo>
                  <a:lnTo>
                    <a:pt x="6671512" y="3752726"/>
                  </a:lnTo>
                  <a:lnTo>
                    <a:pt x="0" y="3752726"/>
                  </a:lnTo>
                  <a:close/>
                </a:path>
              </a:pathLst>
            </a:custGeom>
            <a:solidFill>
              <a:srgbClr val="000000">
                <a:alpha val="49804"/>
              </a:srgbClr>
            </a:solidFill>
          </p:spPr>
          <p:txBody>
            <a:bodyPr/>
            <a:lstStyle/>
            <a:p>
              <a:endParaRPr lang="en-US"/>
            </a:p>
          </p:txBody>
        </p:sp>
      </p:grpSp>
      <p:grpSp>
        <p:nvGrpSpPr>
          <p:cNvPr id="5" name="Group 5">
            <a:extLst>
              <a:ext uri="{FF2B5EF4-FFF2-40B4-BE49-F238E27FC236}">
                <a16:creationId xmlns:a16="http://schemas.microsoft.com/office/drawing/2014/main" id="{32BB408F-BA94-F25E-4515-191C06514B3D}"/>
              </a:ext>
            </a:extLst>
          </p:cNvPr>
          <p:cNvGrpSpPr/>
          <p:nvPr/>
        </p:nvGrpSpPr>
        <p:grpSpPr>
          <a:xfrm>
            <a:off x="2735887" y="2194124"/>
            <a:ext cx="12816226" cy="5898751"/>
            <a:chOff x="0" y="0"/>
            <a:chExt cx="4675394" cy="2151881"/>
          </a:xfrm>
        </p:grpSpPr>
        <p:sp>
          <p:nvSpPr>
            <p:cNvPr id="6" name="Freeform 6">
              <a:extLst>
                <a:ext uri="{FF2B5EF4-FFF2-40B4-BE49-F238E27FC236}">
                  <a16:creationId xmlns:a16="http://schemas.microsoft.com/office/drawing/2014/main" id="{04F91E0E-9807-88C9-9096-6F7D760AE1AD}"/>
                </a:ext>
              </a:extLst>
            </p:cNvPr>
            <p:cNvSpPr/>
            <p:nvPr/>
          </p:nvSpPr>
          <p:spPr>
            <a:xfrm>
              <a:off x="0" y="0"/>
              <a:ext cx="4675394" cy="2151880"/>
            </a:xfrm>
            <a:custGeom>
              <a:avLst/>
              <a:gdLst/>
              <a:ahLst/>
              <a:cxnLst/>
              <a:rect l="l" t="t" r="r" b="b"/>
              <a:pathLst>
                <a:path w="4675394" h="2151880">
                  <a:moveTo>
                    <a:pt x="0" y="0"/>
                  </a:moveTo>
                  <a:lnTo>
                    <a:pt x="4675394" y="0"/>
                  </a:lnTo>
                  <a:lnTo>
                    <a:pt x="4675394" y="2151880"/>
                  </a:lnTo>
                  <a:lnTo>
                    <a:pt x="0" y="2151880"/>
                  </a:lnTo>
                  <a:close/>
                </a:path>
              </a:pathLst>
            </a:custGeom>
            <a:solidFill>
              <a:schemeClr val="bg1">
                <a:lumMod val="95000"/>
              </a:schemeClr>
            </a:solidFill>
          </p:spPr>
          <p:txBody>
            <a:bodyPr/>
            <a:lstStyle/>
            <a:p>
              <a:endParaRPr lang="en-US"/>
            </a:p>
          </p:txBody>
        </p:sp>
      </p:grpSp>
      <p:sp>
        <p:nvSpPr>
          <p:cNvPr id="7" name="TextBox 7">
            <a:extLst>
              <a:ext uri="{FF2B5EF4-FFF2-40B4-BE49-F238E27FC236}">
                <a16:creationId xmlns:a16="http://schemas.microsoft.com/office/drawing/2014/main" id="{18D1B432-544D-B09E-6F55-67FB6F64A21F}"/>
              </a:ext>
            </a:extLst>
          </p:cNvPr>
          <p:cNvSpPr txBox="1"/>
          <p:nvPr/>
        </p:nvSpPr>
        <p:spPr>
          <a:xfrm>
            <a:off x="3759185" y="3315278"/>
            <a:ext cx="10769630" cy="2688878"/>
          </a:xfrm>
          <a:prstGeom prst="rect">
            <a:avLst/>
          </a:prstGeom>
        </p:spPr>
        <p:txBody>
          <a:bodyPr lIns="0" tIns="0" rIns="0" bIns="0" rtlCol="0" anchor="t">
            <a:spAutoFit/>
          </a:bodyPr>
          <a:lstStyle/>
          <a:p>
            <a:pPr algn="ctr">
              <a:lnSpc>
                <a:spcPts val="7149"/>
              </a:lnSpc>
            </a:pPr>
            <a:r>
              <a:rPr lang="en-US" sz="5500" dirty="0">
                <a:solidFill>
                  <a:schemeClr val="tx1"/>
                </a:solidFill>
                <a:latin typeface="Anton"/>
                <a:ea typeface="Anton"/>
                <a:cs typeface="Anton"/>
                <a:sym typeface="Anton"/>
              </a:rPr>
              <a:t>“EDA insights don’t always match model behavior."</a:t>
            </a:r>
          </a:p>
          <a:p>
            <a:pPr algn="ctr">
              <a:lnSpc>
                <a:spcPts val="7149"/>
              </a:lnSpc>
            </a:pPr>
            <a:endParaRPr lang="en-US" sz="5499" dirty="0">
              <a:solidFill>
                <a:srgbClr val="9B7D4C"/>
              </a:solidFill>
              <a:latin typeface="Anton"/>
              <a:ea typeface="Anton"/>
              <a:cs typeface="Anton"/>
              <a:sym typeface="Anton"/>
            </a:endParaRPr>
          </a:p>
        </p:txBody>
      </p:sp>
      <p:sp>
        <p:nvSpPr>
          <p:cNvPr id="8" name="TextBox 8">
            <a:extLst>
              <a:ext uri="{FF2B5EF4-FFF2-40B4-BE49-F238E27FC236}">
                <a16:creationId xmlns:a16="http://schemas.microsoft.com/office/drawing/2014/main" id="{2A0A1302-F044-1494-8EF2-C6061C133BAB}"/>
              </a:ext>
            </a:extLst>
          </p:cNvPr>
          <p:cNvSpPr txBox="1"/>
          <p:nvPr/>
        </p:nvSpPr>
        <p:spPr>
          <a:xfrm>
            <a:off x="4412904" y="6279572"/>
            <a:ext cx="9462192" cy="589777"/>
          </a:xfrm>
          <a:prstGeom prst="rect">
            <a:avLst/>
          </a:prstGeom>
        </p:spPr>
        <p:txBody>
          <a:bodyPr lIns="0" tIns="0" rIns="0" bIns="0" rtlCol="0" anchor="t">
            <a:spAutoFit/>
          </a:bodyPr>
          <a:lstStyle/>
          <a:p>
            <a:pPr algn="ctr">
              <a:lnSpc>
                <a:spcPts val="4900"/>
              </a:lnSpc>
            </a:pPr>
            <a:r>
              <a:rPr lang="en-US" sz="3500" b="1" dirty="0">
                <a:solidFill>
                  <a:schemeClr val="accent5"/>
                </a:solidFill>
                <a:latin typeface="Telegraf Bold"/>
                <a:ea typeface="Telegraf Bold"/>
                <a:cs typeface="Telegraf Bold"/>
                <a:sym typeface="Telegraf Bold"/>
              </a:rPr>
              <a:t>-LEARNINGS-</a:t>
            </a:r>
          </a:p>
        </p:txBody>
      </p:sp>
    </p:spTree>
    <p:extLst>
      <p:ext uri="{BB962C8B-B14F-4D97-AF65-F5344CB8AC3E}">
        <p14:creationId xmlns:p14="http://schemas.microsoft.com/office/powerpoint/2010/main" val="1736944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5862F9A-A879-794C-EAF6-9D39CE5764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B1FD59-484D-F107-8609-0BD4BC6E5750}"/>
              </a:ext>
            </a:extLst>
          </p:cNvPr>
          <p:cNvSpPr txBox="1"/>
          <p:nvPr/>
        </p:nvSpPr>
        <p:spPr>
          <a:xfrm>
            <a:off x="2892056" y="4084882"/>
            <a:ext cx="3019647"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600" b="0" i="0" u="none" strike="noStrike" kern="1200" cap="none" spc="0" normalizeH="0" baseline="0" noProof="0" dirty="0">
                <a:ln>
                  <a:noFill/>
                </a:ln>
                <a:solidFill>
                  <a:srgbClr val="4BACC6"/>
                </a:solidFill>
                <a:effectLst/>
                <a:uLnTx/>
                <a:uFillTx/>
                <a:latin typeface="Anton"/>
                <a:ea typeface="Anton"/>
                <a:cs typeface="Anton"/>
                <a:sym typeface="Anton"/>
              </a:rPr>
              <a:t>Q&amp;A</a:t>
            </a:r>
          </a:p>
        </p:txBody>
      </p:sp>
    </p:spTree>
    <p:extLst>
      <p:ext uri="{BB962C8B-B14F-4D97-AF65-F5344CB8AC3E}">
        <p14:creationId xmlns:p14="http://schemas.microsoft.com/office/powerpoint/2010/main" val="217579829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613</TotalTime>
  <Words>1062</Words>
  <Application>Microsoft Macintosh PowerPoint</Application>
  <PresentationFormat>Custom</PresentationFormat>
  <Paragraphs>181</Paragraphs>
  <Slides>21</Slides>
  <Notes>12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21</vt:i4>
      </vt:variant>
    </vt:vector>
  </HeadingPairs>
  <TitlesOfParts>
    <vt:vector size="33" baseType="lpstr">
      <vt:lpstr>DM Sans Bold</vt:lpstr>
      <vt:lpstr>DM Sans</vt:lpstr>
      <vt:lpstr>Inter SemiBold</vt:lpstr>
      <vt:lpstr>Telegraf</vt:lpstr>
      <vt:lpstr>Arial</vt:lpstr>
      <vt:lpstr>Forum</vt:lpstr>
      <vt:lpstr>Calibri</vt:lpstr>
      <vt:lpstr>Telegraf Bold</vt:lpstr>
      <vt:lpstr>Anton</vt:lpstr>
      <vt:lpstr>Inter</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Dinh, Lan</cp:lastModifiedBy>
  <cp:revision>66</cp:revision>
  <dcterms:modified xsi:type="dcterms:W3CDTF">2025-11-26T06:33:32Z</dcterms:modified>
</cp:coreProperties>
</file>